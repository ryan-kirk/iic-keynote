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01 of 20: From Signals to Decisions
How data and AI are transforming Iowa agricultural co-ops through earlier signal detection and better decision support.
Key stats:
- Audience: Leaders + interns
- Lens: Data + AI
- Method: Story-driven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02 of 20: What changes when a co-op can interpret signals earlier?
This talk stays narrowly focused on the intersection of data, AI, and co-op decision-making.
Talking points:
- How data changed the operating environment
- How signals become a usable story
- Where AI helps in credible, high-trust workflows
- Which examples map cleanly to co-op reality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03 of 20: Co-ops are becoming information interpreters
Agronomy, markets, logistics, and member-service data now arrive continuously. The constraint moved from access to interpretation.
Signals to emphasize:
- Agronomic signals: Imagery, tissue results, scouting notes, and equipment data surface field variation much earlier than before.
- Market signals: Input prices, crop prices, and rates reshape member decisions together, not one at a time.
- Logistics signals: Receipts, moisture, truck turns, and storage availability reveal pressure before the phone starts ringing.
- Member-service signals: Booking patterns, exception volume, and communication delays show where the member experience is changing.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04 of 20: A usable data story follows the same sequence every time
This restores the original signals-to-decisions spine: compare signals, add thresholds, add context, then ask what action deserves support.
Step sequence:
- 1. Observe: Start with signals that appear to be moving together across agronomy, markets, or operations.
- 2. Measure: Add a threshold so the team can separate ordinary noise from something operationally meaningful.
- 3. Explain: Overlay events, notes, or local context to understand what may be driving the pattern.
- 4. Assist: Use AI to summarize, prioritize, and support a human decision instead of pretending the model is the decision-maker.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05 of 20: Margin setup tightened before outreach decisions changed
Two charts establish the setup: corn weakens while fertilizer and financing stay firm.
Talking points:
- Corn proxy fell 15% while fertilizer proxy rose to 114.
- Corn weakens into August while fertilizer peaks in June and financing stays above 5%.
- The synthetic pressure index crosses watch in April and peaks in June.
Data mix: Proxy market data + synthetic operating examples
Visible panels: Corn, fertilizer, and financing proxies | Synthetic margin pressure example
Panel detail:
- Corn, fertilizer, and financing proxies: Proxy market and financing series, rebased to January = 100, show the real economic setup before any synthetic response is introduced.
- Synthetic margin pressure example: Synthetic pressure example shows how a co-op could combine the real proxy inputs into a watch-and-escalate workflow.
Thresholds:
- watch: &gt;= 105. Combined input, crop price, and financing pressure has moved outside a neutral operating range.
- escalate: &gt;= 110. Margin conditions are tight enough to justify earlier member outreach and recommendation review.
Context kept visible:
- Apr 1: Pressure moves into watch range. Margin pressure reaches the first watch threshold as spring input timing intensifies.
- Jun 1: Peak pressure month. This is the illustrative high-water mark for the combined pressure story.
- Sep 1: Harvest recovery begins. Conditions improve modestly as harvest approaches and member visibility increases.
Expanded framing:
- Original combined-slide title: Corn proxy fell 15% while fertilizer proxy rose to 114.
- Original fuller framing: Start with the real proxy signals, then use synthetic margin-pressure and booking examples to show how a co-op might translate that setup into action.
- Real proxy data leads the story: corn weakens from January to August while fertilizer pressure builds into June and financing stays above 5% through September.
- The synthetic margin-pressure example crosses the watch threshold in April and peaks in June, showing how those real inputs could be operationalized.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06 of 20: Booking softened after pressure moved above the watch line
The relationship becomes operational when pressure and booking behavior are visible together.
Talking points:
- Corn proxy fell 15% while fertilizer proxy rose to 114.
- Pressure stays above watch from April through September.
- Booking softens after the break, turning this into an outreach-timing story.
Data mix: Proxy market data + synthetic operating examples
Visible panels: Synthetic margin pressure example | Synthetic member booking example
Panel detail:
- Synthetic margin pressure example: Synthetic pressure example shows how a co-op could combine the real proxy inputs into a watch-and-escalate workflow.
- Synthetic member booking example: Synthetic booking response shows how member behavior could soften after the pressure story moves into watch territory.
Thresholds:
- watch: &gt;= 105. Combined input, crop price, and financing pressure has moved outside a neutral operating range.
- escalate: &gt;= 110. Margin conditions are tight enough to justify earlier member outreach and recommendation review.
- watch: &lt;= 96. Member booking behavior has weakened enough to justify segment-level outreach triage.
Context kept visible:
- Apr 1: Pressure moves into watch range. Margin pressure reaches the first watch threshold as spring input timing intensifies.
- Jun 1: Peak pressure month. This is the illustrative high-water mark for the combined pressure story.
- Sep 1: Harvest recovery begins. Conditions improve modestly as harvest approaches and member visibility increases.
Expanded framing:
- Original combined-slide title: Corn proxy fell 15% while fertilizer proxy rose to 114.
- Original fuller framing: Start with the real proxy signals, then use synthetic margin-pressure and booking examples to show how a co-op might translate that setup into action.
- The synthetic margin-pressure example crosses the watch threshold in April and peaks in June, showing how those real inputs could be operationalized.
- The synthetic booking example softens after the pressure example moves above the watch line, which turns the slide into an outreach-timing story.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07 of 20: AI can turn a margin story into an early-warning workflow
This is the narrow, credible use case: summarize inputs, flag thresholds, prioritize outreach, and keep a human in the loop.
Step sequence:
- 1. Summarize: Pull market updates and local notes into one concise daily view instead of six disconnected sources.
- 2. Flag thresholds: Detect when the margin story moved outside a normal operating range rather than just drifting a little.
- 3. Prioritize outreach: Identify which member segments deserve a conversation first based on the combined signals.
- 4. Support action: Prepare a suggested next conversation for staff to review, adjust, and send with local judgment.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08 of 20: Heat and moisture shifts explain the first canopy stress window
Weather context comes first: hotter weeks and dry intervals set up the late-June decline.
Talking points:
- NDVI fell to -0.07 before a rain-assisted early-July recovery.
- Late-June heat moves well above normal while precipitation runs below trend ahead of the first NDVI drop.
- A strong July 1 rain week explains why the first stress cycle partly recovers.
Data mix: Real weather context + synthetic field examples
Visible panels: Heat signal | Moisture and recovery signal
Panel detail:
- Heat signal: Real Mesonet temperature anomalies show the hot weeks that plausibly push the canopy into stress during late vegetative growth.
- Moisture and recovery signal: Real Mesonet precipitation anomalies show the dry windows and the rain week that supports the first NDVI recovery.
Thresholds:
- context: &gt;= +5.0 F. Temperatures are materially above climatology and may explain vegetative stress.
- context: &lt;= -0.60 in. Weekly precipitation has fallen meaningfully below climatology.
Context kept visible:
- May 4: Variable-rate application pass. Illustrative as-applied context is introduced before the field-stress windows emerge.
- Jun 21: Zone B flagged. First scout-attention event aligned to the early stress window.
- Jul 18: Zone C flagged highest. Second scout-attention event aligned to the stronger late-July stress window.
Expanded framing:
- Original combined-slide title: NDVI fell to -0.07 before a rain-assisted early-July recovery.
- Original fuller framing: The chart now emphasizes the weather-to-canopy narrative: hot weeks and dry intervals precede the first NDVI decline, early-July rainfall supports recovery, and a second July window likely aligns with pollination and early grain fill.
- The late-June window plausibly aligns with late vegetative canopy growth, when hot and dry conditions can start to show up as canopy stress.
- The first NDVI drop is followed by a July 1 week with +2.32 inches of precipitation and a partial canopy recovery, so the heat-and-recovery narrative is supportable for the first stress cycle.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09 of 20: NDVI and scout triage show where agronomists should look first
The field response matters once the weather signal becomes a prioritization problem.
Talking points:
- NDVI fell to -0.07 before a rain-assisted early-July recovery.
- NDVI bottoms near -0.07 before a partial recovery.
- The July 15 to July 29 wave is the stronger case for scout triage and human review.
Data mix: Real weather context + synthetic field examples
Visible panels: Synthetic NDVI example | Synthetic scout triage example
Panel detail:
- Synthetic NDVI example: Synthetic NDVI anomaly line shows a late-June drop, a rain-assisted early-July recovery, and a second stress wave near pollination and early grain fill.
- Synthetic scout triage example: Synthetic scout-priority events show where agronomist attention becomes most urgent after the stress windows appear.
Thresholds:
- watch: &lt;= -0.04. Field variation is large enough to justify agronomist review.
- escalate: &lt;= -0.06. Field variation is severe enough that the field should move to the top of the review queue.
Context kept visible:
- May 4: Variable-rate application pass. Illustrative as-applied context is introduced before the field-stress windows emerge.
- Jun 21: Zone B flagged. First scout-attention event aligned to the early stress window.
- Jul 18: Zone C flagged highest. Second scout-attention event aligned to the stronger late-July stress window.
Expanded framing:
- Original combined-slide title: NDVI fell to -0.07 before a rain-assisted early-July recovery.
- Original fuller framing: The chart now emphasizes the weather-to-canopy narrative: hot weeks and dry intervals precede the first NDVI decline, early-July rainfall supports recovery, and a second July window likely aligns with pollination and early grain fill.
- The first NDVI drop is followed by a July 1 week with +2.32 inches of precipitation and a partial canopy recovery, so the heat-and-recovery narrative is supportable for the first stress cycle.
- The stronger July 15 to July 29 window is more plausibly a pollination to early grain-fill problem, which makes scout triage more important than a generic anomaly alert.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10 of 20: AI can help triage attention across fields and agronomists
The AI role is to accelerate pattern finding and note synthesis so agronomists can spend more time on field judgment.
Step sequence:
- 1. Consolidate: Combine imagery summaries, scouting notes, and lab results into one review surface.
- 2. Detect: Flag field patterns that look unusual relative to local history or nearby fields.
- 3. Rank: Help agronomists prioritize where to spend limited time first when many acres show stress at once.
- 4. Recommend: Draft a human-checked recommendation that can enter the co-op workflow faster.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11 of 20: Statewide harvest pace explains the first inbound pressure build
Start with the public anchor, then translate it into a local receipts inference.
Talking points:
- Corn harvest rose from 11% to 97% statewide.
- Corn harvest rises from 11% to 97% statewide between September 30 and November 18.
- The synthetic receipts curve shows how that harvest ramp could stress one facility.
Data mix: Real USDA crop progress + synthetic logistics inference
Visible panels: Weekly USDA crop progress | Synthetic receipts inference
Panel detail:
- Weekly USDA crop progress: Real USDA report values lead the story and establish the statewide harvest curve before any synthetic operational inference is shown.
- Synthetic receipts inference: Synthetic intake curve is inferred from the USDA harvest ramp and shows how inbound pressure could build at a location level.
Context kept visible:
- Sep 3: Corn mature reaches 10%. The public harvest anchor now starts with an extracted statewide progress percentage rather than just a report date.
- Sep 16: Corn mature reaches 41%. Maturity accelerates before the operating watch window peaks.
- Sep 30: Corn harvested reaches 11%. The first extracted harvest percentage lines up with the rising queue and capacity pressure period.
- Oct 15: Corn harvested reaches 45%. Harvest scale stays visible even as the first operating spike begins to ease.
Expanded framing:
- Original combined-slide title: Corn harvest rose from 11% to 97% statewide.
- Original fuller framing: Lead with the real USDA crop-progress curve, then use synthetic receipts, turn-time, and capacity examples as location-level inferences from that harvest ramp.
- The real USDA series leads the slide: statewide corn harvest moves from 11% on September 30 to 97% by November 18.
- The receipts, turn-time, and capacity panels are synthetic inferences, included to show how a local facility could experience that statewide harvest ramp.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12 of 20: Turn time warns earlier than capacity does
Member delay becomes visible before the site reaches its hardest storage constraint.
Talking points:
- Corn harvest rose from 11% to 97% statewide.
- The service signal crosses watch before capacity reaches hard-pressure territory.
- That makes truck delay the earlier intervention signal for staffing, routing, and communication.
Data mix: Real USDA crop progress + synthetic logistics inference
Visible panels: Synthetic truck turn-time inference | Synthetic capacity inference
Panel detail:
- Synthetic truck turn-time inference: Synthetic turn-time curve shows the earliest member-facing symptom inferred from the harvest ramp and throughput pressure.
- Synthetic capacity inference: Synthetic storage-utilization curve shows how the USDA harvest ramp could translate into a visible watch period before a hard constraint.
Thresholds:
- watch: &gt;= 82%. Capacity is tight enough that logistics becomes a visible member-service risk.
- escalate: &gt;= 90%. Capacity is approaching a hard operational constraint.
- watch: &gt;= 75 min. Truck wait time is long enough to change member experience materially.
- escalate: &gt;= 100 min. Truck wait time has moved into a service-recovery range that deserves active intervention.
Context kept visible:
- Sep 3: Corn mature reaches 10%. The public harvest anchor now starts with an extracted statewide progress percentage rather than just a report date.
- Sep 16: Corn mature reaches 41%. Maturity accelerates before the operating watch window peaks.
- Sep 30: Corn harvested reaches 11%. The first extracted harvest percentage lines up with the rising queue and capacity pressure period.
- Oct 15: Corn harvested reaches 45%. Harvest scale stays visible even as the first operating spike begins to ease.
Expanded framing:
- Original combined-slide title: Corn harvest rose from 11% to 97% statewide.
- Original fuller framing: Lead with the real USDA crop-progress curve, then use synthetic receipts, turn-time, and capacity examples as location-level inferences from that harvest ramp.
- The receipts, turn-time, and capacity panels are synthetic inferences, included to show how a local facility could experience that statewide harvest ramp.
- The synthetic service signal crosses its watch line before the synthetic capacity line reaches hard-pressure territory, which is why operations should watch member delay first.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13 of 20: AI can support dispatch and exception handling before members feel the delay
This is where AI helps operations teams surface thresholds, spot exceptions, and communicate earlier.
Step sequence:
- 1. Monitor: Watch key logistics thresholds continuously without asking staff to babysit every dashboard.
- 2. Spot exceptions: Detect patterns like rising turn time or unexpected moisture clusters sooner than manual review usually does.
- 3. Suggest options: Prepare rerouting, staffing, or communication suggestions for dispatch and location managers.
- 4. Keep human control: The operation still owns the decision because the consequence lands with members and employees, not the model.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14 of 20: The most credible uses of AI in co-ops are narrow and high-trust
The examples above point to a consistent pattern: AI helps most when the job is bounded and the human owner is obvious.
Signals to emphasize:
- Summarization: Turn scattered notes, reports, and updates into a reviewable operating picture.
- Anomaly detection: Notice unusual patterns across fields, markets, or logistics before they become expensive.
- Prioritization: Help teams decide what deserves attention first when the volume of signals spikes.
- Recommendation support: Prepare draft actions for humans to review instead of pushing autonomous decisions into the operation.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15 of 20: AI only works well after the signals are structured
This is the operational discipline point: weak notes and fragmented systems produce weak AI outputs.
What weak data habits look like:
- Different teams define the same metric differently
- Field notes live in disconnected places
- Operational thresholds are implied but undocumented
- No one can explain why a recommendation was made
What stronger operating discipline looks like:
- Shared definitions for the signals that matter
- Structured notes and visible ownership
- Clear thresholds for watch periods and exceptions
- Documented reasoning before action is taken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16 of 20: AI will amplify whatever operating habits already exist
If data is fragmented, goals are fuzzy, or ownership is unclear, automation spreads confusion faster.
Weak habits AI scales:
- Unclear definitions of success
- Fragmented notes and disconnected systems
- Advice without documented reasoning
- Outputs no one reviews carefully
Better habits to scale first:
- Shared terms and operating metrics
- Structured notes and visible ownership
- Decision logs for major recommendations
- Human review before high-stakes action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17 of 20: A 12-month data-and-AI roadmap can stay simple
Roadmap:
- 0-90 days: Standardize the signals. Choose a small set of agronomic, market, and operational indicators that leadership reviews consistently.
- Quarter 2: Instrument one workflow. Pick one decision process such as pricing outreach, agronomy follow-up, or dispatch exceptions and structure its signals.
- Quarter 3: Add a digital layer. Expose the workflow to staff with a simple interface that keeps context visible instead of hiding it in spreadsheets.
- Quarter 4: Evaluate AI selectively. Apply AI where summarization, pattern detection, or prioritization can save time without removing human accountability.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18 of 20: The near-term advantage for Iowa co-ops is earlier interpretation
Talking points:
- Tell better operational stories with data, not more disconnected charts.
- Use AI where it assists judgment in narrow, high-trust workflows.
- Anchor every concept in a co-op example leaders and interns can recognize.
- Win by acting earlier, not by collecting more dashboards.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19 of 20: Better questions lead to better timing
The co-ops that interpret signals earlier will be the ones that use data and AI to serve members more effectively.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Iowa Agricultural Co-ops
Slide 20 of 20: About Ryan Kirk
Digital agriculture, applied AI, and decision support leadership grounded in real operating outcomes.
Author: Ryan Kirk
Role: Digital agriculture and applied AI leader
Summary: Former Head of Data Science at John Deere, focused on turning data, analytics, and AI into practical decisions across the agricultural ecosystem.
Highlights:
- Digital agriculture leadership: Helped shape how data science, analytics, and AI support decisions across the agricultural ecosystem at John Deere.
- Decision support systems expertise: Holds a PhD in Human-Computer Interaction focused on decision support systems in veterinary and clinical settings.
- Applied AI for agronomy and operations: Works at the intersection of agronomy, data products, and emerging technology to build connected, intelligent, resilient decision support systems.
Contact prompt: Scan to connect on Blinq. Use the QR code for post-session follow-up on applied AI, digital agronomy, and resilient decision support systems.
Expanded framing:
- Source summary from author/Bio.md.
- Emphasize the through-line from digital agriculture leadership to practical decision support, not generic technology hype.
- Invite follow-up conversations on applied AI, agronomy workflows, and data products using the Blinq QR code.
Audience: Agricultural professionals and interns
Event: One-day Iowa co-op trends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INSTITUTE KEYNOTE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Signals to Decisions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and AI are transforming Iowa agricultural co-ops through earlier signal detection and better decision support.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2423160" cy="105156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599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1832" y="48371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+ interns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4434840"/>
            <a:ext cx="2423160" cy="105156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4599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39312" y="48371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AI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72200" y="4434840"/>
            <a:ext cx="2423160" cy="105156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4599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36792" y="48371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Story-driven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244736">
              <a:alpha val="20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244736">
              <a:alpha val="8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when a co-op can interpret signals earlier?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7373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talk stays narrowly focused on the intersection of data, AI, and co-op decision-making.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6766560" cy="3246120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907792"/>
            <a:ext cx="109728" cy="109728"/>
          </a:xfrm>
          <a:prstGeom prst="ellipse">
            <a:avLst/>
          </a:prstGeom>
          <a:solidFill>
            <a:srgbClr val="244736"/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2788920"/>
            <a:ext cx="5971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changed the operating environment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3474720"/>
            <a:ext cx="109728" cy="109728"/>
          </a:xfrm>
          <a:prstGeom prst="ellipse">
            <a:avLst/>
          </a:prstGeom>
          <a:solidFill>
            <a:srgbClr val="244736"/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3355848"/>
            <a:ext cx="5971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signals become a usable story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" y="4041648"/>
            <a:ext cx="109728" cy="109728"/>
          </a:xfrm>
          <a:prstGeom prst="ellipse">
            <a:avLst/>
          </a:prstGeom>
          <a:solidFill>
            <a:srgbClr val="244736"/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3922776"/>
            <a:ext cx="5971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helps in credible, high-trust workflows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51560" y="4608576"/>
            <a:ext cx="109728" cy="109728"/>
          </a:xfrm>
          <a:prstGeom prst="ellipse">
            <a:avLst/>
          </a:prstGeom>
          <a:solidFill>
            <a:srgbClr val="244736"/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4489704"/>
            <a:ext cx="5971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examples map cleanly to co-op reality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Co-ops are becoming information interpreters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64592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Agronomy, markets, logistics, and member-service data now arrive continuously. The constraint moved from access to interpretation.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5285232" cy="155448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679192"/>
            <a:ext cx="329184" cy="32918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26243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Agronomic signals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35608" y="293522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Imagery, tissue results, scouting notes, and equipment data surface field variation much earlier than before.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423160"/>
            <a:ext cx="5285232" cy="155448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74536" y="2679192"/>
            <a:ext cx="329184" cy="32918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26243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signals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3448" y="293522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prices, crop prices, and rates reshape member decisions together, not one at a time.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206240"/>
            <a:ext cx="5285232" cy="155448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" y="4462272"/>
            <a:ext cx="329184" cy="32918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608" y="44074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signals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71830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Receipts, moisture, truck turns, and storage availability reveal pressure before the phone starts ringing.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206240"/>
            <a:ext cx="5285232" cy="155448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4536" y="4462272"/>
            <a:ext cx="329184" cy="32918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44074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Member-service signals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3448" y="471830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patterns, exception volume, and communication delays show where the member experience is changing.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56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F2C766">
              <a:alpha val="20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F2C766">
              <a:alpha val="8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usable data story follows the same sequence every time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6276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restores the original signals-to-decisions spine: compare signals, add thresholds, add context, then ask what action deserves support.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signals that appear to be moving together across agronomy, markets, or operations.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9856" y="3630168"/>
            <a:ext cx="237744" cy="347472"/>
          </a:xfrm>
          <a:prstGeom prst="chevron">
            <a:avLst/>
          </a:prstGeom>
          <a:solidFill>
            <a:srgbClr val="F2C766">
              <a:alpha val="82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67328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67328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threshold so the team can separate ordinary noise from something operationally meaningful.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3630168"/>
            <a:ext cx="237744" cy="347472"/>
          </a:xfrm>
          <a:prstGeom prst="chevron">
            <a:avLst/>
          </a:prstGeom>
          <a:solidFill>
            <a:srgbClr val="F2C766">
              <a:alpha val="82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0256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0256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events, notes, or local context to understand what may be driving the pattern.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25712" y="3630168"/>
            <a:ext cx="237744" cy="347472"/>
          </a:xfrm>
          <a:prstGeom prst="chevron">
            <a:avLst/>
          </a:prstGeom>
          <a:solidFill>
            <a:srgbClr val="F2C766">
              <a:alpha val="82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8592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73184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73184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summarize, prioritize, and support a human decision instead of pretending the model is the decision-maker.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1A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21792"/>
            <a:ext cx="40690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setup tightened before outreach decisions changed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60704" y="1883664"/>
            <a:ext cx="3584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charts establish the setup: corn weakens while fertilizer and financing stay firm.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768096" y="3538728"/>
            <a:ext cx="4133088" cy="3099816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6850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392277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readout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78408" y="4334256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215384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proxy fell 15% while fertilizer proxy rose to 114.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8408" y="5070348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951476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weakens into August while fertilizer peaks in June and financing stays above 5%.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" y="5806440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5687568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synthetic pressure index crosses watch in April and peaks in June.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71016" y="6309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market data + synthetic operating examples</a:t>
            </a:r>
            <a:endParaRPr lang="en-US" sz="1020" dirty="0"/>
          </a:p>
        </p:txBody>
      </p:sp>
      <p:pic>
        <p:nvPicPr>
          <p:cNvPr id="19" name="Image 0" descr="/Users/rakirk/dev/iic-keynote/artifacts/powerpoint/charts/margin_pressure__margin-contex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7176" y="219456"/>
            <a:ext cx="6062472" cy="3063240"/>
          </a:xfrm>
          <a:prstGeom prst="rect">
            <a:avLst/>
          </a:prstGeom>
        </p:spPr>
      </p:pic>
      <p:pic>
        <p:nvPicPr>
          <p:cNvPr id="20" name="Image 1" descr="/Users/rakirk/dev/iic-keynote/artifacts/powerpoint/charts/margin_pressure__margin-pressure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0992" y="3538728"/>
            <a:ext cx="606247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1B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21792"/>
            <a:ext cx="40690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softened after pressure moved above the watch line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60704" y="1883664"/>
            <a:ext cx="3584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becomes operational when pressure and booking behavior are visible together.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768096" y="3538728"/>
            <a:ext cx="4133088" cy="3099816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6850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392277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readout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78408" y="4334256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215384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proxy fell 15% while fertilizer proxy rose to 114.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8408" y="5070348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951476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stays above watch from April through September.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" y="5806440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5687568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softens after the break, turning this into an outreach-timing story.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71016" y="6309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market data + synthetic operating examples</a:t>
            </a:r>
            <a:endParaRPr lang="en-US" sz="1020" dirty="0"/>
          </a:p>
        </p:txBody>
      </p:sp>
      <p:pic>
        <p:nvPicPr>
          <p:cNvPr id="19" name="Image 0" descr="/Users/rakirk/dev/iic-keynote/artifacts/powerpoint/charts/margin_pressure__margin-press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7176" y="219456"/>
            <a:ext cx="6062472" cy="3063240"/>
          </a:xfrm>
          <a:prstGeom prst="rect">
            <a:avLst/>
          </a:prstGeom>
        </p:spPr>
      </p:pic>
      <p:pic>
        <p:nvPicPr>
          <p:cNvPr id="20" name="Image 1" descr="/Users/rakirk/dev/iic-keynote/artifacts/powerpoint/charts/margin_pressure__booking-behavior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0992" y="3538728"/>
            <a:ext cx="606247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 turn a margin story into an early-warning workflow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6276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narrow, credible use case: summarize inputs, flag thresholds, prioritize outreach, and keep a human in the loop.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market updates and local notes into one concise daily view instead of six disconnected sources.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9856" y="3630168"/>
            <a:ext cx="237744" cy="347472"/>
          </a:xfrm>
          <a:prstGeom prst="chevron">
            <a:avLst/>
          </a:prstGeom>
          <a:solidFill>
            <a:srgbClr val="D4A846">
              <a:alpha val="82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67328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thresholds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67328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when the margin story moved outside a normal operating range rather than just drifting a little.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3630168"/>
            <a:ext cx="237744" cy="347472"/>
          </a:xfrm>
          <a:prstGeom prst="chevron">
            <a:avLst/>
          </a:prstGeom>
          <a:solidFill>
            <a:srgbClr val="D4A846">
              <a:alpha val="82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0256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outreach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0256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member segments deserve a conversation first based on the combined signals.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25712" y="3630168"/>
            <a:ext cx="237744" cy="347472"/>
          </a:xfrm>
          <a:prstGeom prst="chevron">
            <a:avLst/>
          </a:prstGeom>
          <a:solidFill>
            <a:srgbClr val="D4A846">
              <a:alpha val="82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8592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73184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73184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 suggested next conversation for staff to review, adjust, and send with local judgment.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2A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21792"/>
            <a:ext cx="40690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 and moisture shifts explain the first canopy stress window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60704" y="1883664"/>
            <a:ext cx="3584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context comes first: hotter weeks and dry intervals set up the late-June decline.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768096" y="3538728"/>
            <a:ext cx="4133088" cy="3099816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6850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392277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readout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78408" y="4334256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215384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fell to -0.07 before a rain-assisted early-July recovery.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8408" y="5070348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951476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Late-June heat moves well above normal while precipitation runs below trend ahead of the first NDVI drop.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" y="5806440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5687568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July 1 rain week explains why the first stress cycle partly recovers.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71016" y="6309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weather context + synthetic field examples</a:t>
            </a:r>
            <a:endParaRPr lang="en-US" sz="1020" dirty="0"/>
          </a:p>
        </p:txBody>
      </p:sp>
      <p:pic>
        <p:nvPicPr>
          <p:cNvPr id="19" name="Image 0" descr="/Users/rakirk/dev/iic-keynote/artifacts/powerpoint/charts/precision_agronomy__temperature-devi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7176" y="219456"/>
            <a:ext cx="6062472" cy="3063240"/>
          </a:xfrm>
          <a:prstGeom prst="rect">
            <a:avLst/>
          </a:prstGeom>
        </p:spPr>
      </p:pic>
      <p:pic>
        <p:nvPicPr>
          <p:cNvPr id="20" name="Image 1" descr="/Users/rakirk/dev/iic-keynote/artifacts/powerpoint/charts/precision_agronomy__precipitation-deviatio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0992" y="3538728"/>
            <a:ext cx="606247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2B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21792"/>
            <a:ext cx="40690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NDVI and scout triage show where agronomists should look first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60704" y="1883664"/>
            <a:ext cx="3584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 response matters once the weather signal becomes a prioritization problem.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768096" y="3538728"/>
            <a:ext cx="4133088" cy="3099816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6850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392277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readout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78408" y="4334256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215384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fell to -0.07 before a rain-assisted early-July recovery.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8408" y="5070348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951476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bottoms near -0.07 before a partial recovery.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" y="5806440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5687568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July 15 to July 29 wave is the stronger case for scout triage and human review.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71016" y="6309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weather context + synthetic field examples</a:t>
            </a:r>
            <a:endParaRPr lang="en-US" sz="1020" dirty="0"/>
          </a:p>
        </p:txBody>
      </p:sp>
      <p:pic>
        <p:nvPicPr>
          <p:cNvPr id="19" name="Image 0" descr="/Users/rakirk/dev/iic-keynote/artifacts/powerpoint/charts/precision_agronomy__ndvi-anomal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7176" y="219456"/>
            <a:ext cx="6062472" cy="3063240"/>
          </a:xfrm>
          <a:prstGeom prst="rect">
            <a:avLst/>
          </a:prstGeom>
        </p:spPr>
      </p:pic>
      <p:pic>
        <p:nvPicPr>
          <p:cNvPr id="20" name="Image 1" descr="/Users/rakirk/dev/iic-keynote/artifacts/powerpoint/charts/precision_agronomy__scout-attentio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0992" y="3538728"/>
            <a:ext cx="606247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56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F2C766">
              <a:alpha val="20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F2C766">
              <a:alpha val="8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 help triage attention across fields and agronomists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6276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role is to accelerate pattern finding and note synthesis so agronomists can spend more time on field judgment.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imagery summaries, scouting notes, and lab results into one review surface.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9856" y="3630168"/>
            <a:ext cx="237744" cy="347472"/>
          </a:xfrm>
          <a:prstGeom prst="chevron">
            <a:avLst/>
          </a:prstGeom>
          <a:solidFill>
            <a:srgbClr val="F2C766">
              <a:alpha val="82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67328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67328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field patterns that look unusual relative to local history or nearby fields.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3630168"/>
            <a:ext cx="237744" cy="347472"/>
          </a:xfrm>
          <a:prstGeom prst="chevron">
            <a:avLst/>
          </a:prstGeom>
          <a:solidFill>
            <a:srgbClr val="F2C766">
              <a:alpha val="82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0256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0256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agronomists prioritize where to spend limited time first when many acres show stress at once.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25712" y="3630168"/>
            <a:ext cx="237744" cy="347472"/>
          </a:xfrm>
          <a:prstGeom prst="chevron">
            <a:avLst/>
          </a:prstGeom>
          <a:solidFill>
            <a:srgbClr val="F2C766">
              <a:alpha val="82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8592" y="2788920"/>
            <a:ext cx="2606040" cy="2103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73184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73184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 human-checked recommendation that can enter the co-op workflow faster.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3A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21792"/>
            <a:ext cx="40690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Statewide harvest pace explains the first inbound pressure build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60704" y="1883664"/>
            <a:ext cx="3584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public anchor, then translate it into a local receipts inference.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768096" y="3538728"/>
            <a:ext cx="4133088" cy="3099816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6850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392277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readout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78408" y="4334256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215384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harvest rose from 11% to 97% statewide.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8408" y="5070348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951476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harvest rises from 11% to 97% statewide between September 30 and November 18.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" y="5806440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5687568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synthetic receipts curve shows how that harvest ramp could stress one facility.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71016" y="6309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USDA crop progress + synthetic logistics inference</a:t>
            </a:r>
            <a:endParaRPr lang="en-US" sz="1020" dirty="0"/>
          </a:p>
        </p:txBody>
      </p:sp>
      <p:pic>
        <p:nvPicPr>
          <p:cNvPr id="19" name="Image 0" descr="/Users/rakirk/dev/iic-keynote/artifacts/powerpoint/charts/grain_logistics__harvest-progres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7176" y="219456"/>
            <a:ext cx="6062472" cy="3063240"/>
          </a:xfrm>
          <a:prstGeom prst="rect">
            <a:avLst/>
          </a:prstGeom>
        </p:spPr>
      </p:pic>
      <p:pic>
        <p:nvPicPr>
          <p:cNvPr id="20" name="Image 1" descr="/Users/rakirk/dev/iic-keynote/artifacts/powerpoint/charts/grain_logistics__daily-receipts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0992" y="3538728"/>
            <a:ext cx="606247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 3B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21792"/>
            <a:ext cx="40690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time warns earlier than capacity does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60704" y="1883664"/>
            <a:ext cx="3584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delay becomes visible before the site reaches its hardest storage constraint.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768096" y="3538728"/>
            <a:ext cx="4133088" cy="3099816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368503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392277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readout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78408" y="4334256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215384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harvest rose from 11% to 97% statewide.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8408" y="5070348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951476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signal crosses watch before capacity reaches hard-pressure territory.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" y="5806440"/>
            <a:ext cx="146304" cy="146304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5687568"/>
            <a:ext cx="351129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makes truck delay the earlier intervention signal for staffing, routing, and communication.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71016" y="63093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USDA crop progress + synthetic logistics inference</a:t>
            </a:r>
            <a:endParaRPr lang="en-US" sz="1020" dirty="0"/>
          </a:p>
        </p:txBody>
      </p:sp>
      <p:pic>
        <p:nvPicPr>
          <p:cNvPr id="19" name="Image 0" descr="/Users/rakirk/dev/iic-keynote/artifacts/powerpoint/charts/grain_logistics__turn-ti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7176" y="219456"/>
            <a:ext cx="6062472" cy="3063240"/>
          </a:xfrm>
          <a:prstGeom prst="rect">
            <a:avLst/>
          </a:prstGeom>
        </p:spPr>
      </p:pic>
      <p:pic>
        <p:nvPicPr>
          <p:cNvPr id="20" name="Image 1" descr="/Users/rakirk/dev/iic-keynote/artifacts/powerpoint/charts/grain_logistics__capacity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0992" y="3538728"/>
            <a:ext cx="606247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244736">
              <a:alpha val="20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244736">
              <a:alpha val="8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 support dispatch and exception handling before members feel the delay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6276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AI helps operations teams surface thresholds, spot exceptions, and communicate earlier.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2788920"/>
            <a:ext cx="2606040" cy="2103120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key logistics thresholds continuously without asking staff to babysit every dashboard.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19856" y="3630168"/>
            <a:ext cx="237744" cy="347472"/>
          </a:xfrm>
          <a:prstGeom prst="chevron">
            <a:avLst/>
          </a:prstGeom>
          <a:solidFill>
            <a:srgbClr val="244736">
              <a:alpha val="82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2736" y="2788920"/>
            <a:ext cx="2606040" cy="2103120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67328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exceptions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67328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patterns like rising turn time or unexpected moisture clusters sooner than manual review usually does.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3630168"/>
            <a:ext cx="237744" cy="347472"/>
          </a:xfrm>
          <a:prstGeom prst="chevron">
            <a:avLst/>
          </a:prstGeom>
          <a:solidFill>
            <a:srgbClr val="244736">
              <a:alpha val="82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55664" y="2788920"/>
            <a:ext cx="2606040" cy="2103120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0256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options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0256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rerouting, staffing, or communication suggestions for dispatch and location managers.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25712" y="3630168"/>
            <a:ext cx="237744" cy="347472"/>
          </a:xfrm>
          <a:prstGeom prst="chevron">
            <a:avLst/>
          </a:prstGeom>
          <a:solidFill>
            <a:srgbClr val="244736">
              <a:alpha val="82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08592" y="2788920"/>
            <a:ext cx="2606040" cy="2103120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29718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73184" y="326440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human control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73184" y="3639312"/>
            <a:ext cx="22768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 still owns the decision because the consequence lands with members and employees, not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56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F2C766">
              <a:alpha val="20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F2C766">
              <a:alpha val="8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HELPS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credible uses of AI in co-ops are narrow and high-trust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64592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examples above point to a consistent pattern: AI helps most when the job is bounded and the human owner is obvious.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5285232" cy="155448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679192"/>
            <a:ext cx="329184" cy="329184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26243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35608" y="293522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scattered notes, reports, and updates into a reviewable operating picture.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423160"/>
            <a:ext cx="5285232" cy="155448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74536" y="2679192"/>
            <a:ext cx="329184" cy="329184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26243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3448" y="293522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unusual patterns across fields, markets, or logistics before they become expensive.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206240"/>
            <a:ext cx="5285232" cy="155448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" y="4462272"/>
            <a:ext cx="329184" cy="329184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608" y="44074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35608" y="471830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teams decide what deserves attention first when the volume of signals spikes.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206240"/>
            <a:ext cx="5285232" cy="155448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4536" y="4462272"/>
            <a:ext cx="329184" cy="329184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44074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support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3448" y="4718304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E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draft actions for humans to review instead of pushing autonomous decisions into the operation.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READINESS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only works well after the signals are structured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6276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operational discipline point: weak notes and fragmented systems produce weak AI outputs.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5349240" cy="3246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514600"/>
            <a:ext cx="5074920" cy="3246120"/>
          </a:xfrm>
          <a:prstGeom prst="roundRect">
            <a:avLst/>
          </a:prstGeom>
          <a:solidFill>
            <a:srgbClr val="D4A846">
              <a:alpha val="1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weak data habits look like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4128" y="324612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12724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teams define the same metric differently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24128" y="374904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363016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notes live in disconnected places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4128" y="425196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413308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thresholds are implied but undocumented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24128" y="475488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63600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can explain why a recommendation was made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stronger operating discipline looks like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01968" y="324612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312724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definitions for the signals that matter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01968" y="374904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363016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notes and visible ownership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01968" y="425196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413308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thresholds for watch periods and exceptions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01968" y="475488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463600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reasoning before action is taken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F2C766">
              <a:alpha val="20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F2C766">
              <a:alpha val="8000"/>
            </a:srgbClr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will amplify whatever operating habits already exist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16276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0D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data is fragmented, goals are fuzzy, or ownership is unclear, automation spreads confusion faster.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5349240" cy="3246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514600"/>
            <a:ext cx="5074920" cy="3246120"/>
          </a:xfrm>
          <a:prstGeom prst="roundRect">
            <a:avLst/>
          </a:prstGeom>
          <a:solidFill>
            <a:srgbClr val="F2C766">
              <a:alpha val="1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habits AI scales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4128" y="3246120"/>
            <a:ext cx="109728" cy="109728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12724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definitions of success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24128" y="3749040"/>
            <a:ext cx="109728" cy="109728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363016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notes and disconnected systems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4128" y="4251960"/>
            <a:ext cx="109728" cy="109728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413308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 without documented reasoning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24128" y="4754880"/>
            <a:ext cx="109728" cy="109728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4636008"/>
            <a:ext cx="4462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no one reviews carefully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habits to scale first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01968" y="3246120"/>
            <a:ext cx="109728" cy="109728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312724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terms and operating metrics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01968" y="3749040"/>
            <a:ext cx="109728" cy="109728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363016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notes and visible ownership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01968" y="4251960"/>
            <a:ext cx="109728" cy="109728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413308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logs for major recommendations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01968" y="4754880"/>
            <a:ext cx="109728" cy="109728"/>
          </a:xfrm>
          <a:prstGeom prst="ellipse">
            <a:avLst/>
          </a:prstGeom>
          <a:solidFill>
            <a:srgbClr val="F2C766"/>
          </a:solidFill>
          <a:ln w="12700">
            <a:solidFill>
              <a:srgbClr val="F2C76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4636008"/>
            <a:ext cx="4142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before high-stakes action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244736">
              <a:alpha val="20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244736">
              <a:alpha val="8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PLAYBOOK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12-month data-and-AI roadmap can stay simple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10927080" cy="841248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391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0-90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9933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the signals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9339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small set of agronomic, market, and operational indicators that leadership reviews consistently.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2907792"/>
            <a:ext cx="10927080" cy="841248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118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30723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one workflow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decision process such as pricing outreach, agronomy follow-up, or dispatch exceptions and structure its signals.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3986784"/>
            <a:ext cx="10927080" cy="841248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1970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41513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digital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1513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the workflow to staff with a simple interface that keeps context visible instead of hiding it in spreadsheets.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5065776"/>
            <a:ext cx="10927080" cy="841248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276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52303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AI selectively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5230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AI where summarization, pattern detection, or prioritization can save time without removing human accountability.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D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near-term advantage for Iowa co-ops is earlier interpretation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6766560" cy="324612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907792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788920"/>
            <a:ext cx="5971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better operational stories with data, not more disconnected charts.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51560" y="3474720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3355848"/>
            <a:ext cx="5971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where it assists judgment in narrow, high-trust workflows.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4041648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922776"/>
            <a:ext cx="5971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every concept in a co-op example leaders and interns can recognize.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51560" y="4608576"/>
            <a:ext cx="109728" cy="109728"/>
          </a:xfrm>
          <a:prstGeom prst="ellipse">
            <a:avLst/>
          </a:prstGeom>
          <a:solidFill>
            <a:srgbClr val="D4A846"/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4489704"/>
            <a:ext cx="5971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by acting earlier, not by collecting more dashboards.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D4A846">
              <a:alpha val="20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D4A846">
              <a:alpha val="8000"/>
            </a:srgbClr>
          </a:solidFill>
          <a:ln w="12700">
            <a:solidFill>
              <a:srgbClr val="D4A84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questions lead to better timing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96112" y="3154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co-ops that interpret signals earlier will be the ones that use data and AI to serve members more effectively.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594360"/>
            <a:ext cx="2834640" cy="2194560"/>
          </a:xfrm>
          <a:prstGeom prst="ellipse">
            <a:avLst/>
          </a:prstGeom>
          <a:solidFill>
            <a:srgbClr val="244736">
              <a:alpha val="20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502920"/>
            <a:ext cx="2560320" cy="19202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720000">
            <a:off x="6583680" y="6172200"/>
            <a:ext cx="6035040" cy="1097280"/>
          </a:xfrm>
          <a:prstGeom prst="rect">
            <a:avLst/>
          </a:prstGeom>
          <a:solidFill>
            <a:srgbClr val="244736">
              <a:alpha val="8000"/>
            </a:srgbClr>
          </a:solidFill>
          <a:ln w="12700">
            <a:solidFill>
              <a:srgbClr val="24473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9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47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AUTHOR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07040" y="219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89611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Ryan Kirk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68096" y="155448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agriculture, applied AI, and decision support leadership grounded in real operating outcomes.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649224" y="1828800"/>
            <a:ext cx="4828032" cy="4590288"/>
          </a:xfrm>
          <a:prstGeom prst="roundRect">
            <a:avLst/>
          </a:prstGeom>
          <a:solidFill>
            <a:srgbClr val="1D2B22">
              <a:alpha val="10000"/>
            </a:srgbClr>
          </a:solidFill>
          <a:ln w="12700">
            <a:solidFill>
              <a:srgbClr val="1D2B22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56232" y="2029968"/>
            <a:ext cx="2414016" cy="2414016"/>
          </a:xfrm>
          <a:prstGeom prst="ellipse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25400" dist="25400" dir="2700000">
              <a:srgbClr val="20352A">
                <a:alpha val="14000"/>
              </a:srgbClr>
            </a:outerShdw>
          </a:effectLst>
        </p:spPr>
      </p:sp>
      <p:pic>
        <p:nvPicPr>
          <p:cNvPr id="11" name="Image 0" descr="/Users/rakirk/dev/iic-keynote/public/author/kirk-ryan-005-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139696"/>
            <a:ext cx="2194560" cy="2194560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78408" y="44805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F5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AGRICULTURE AND APPLIED AI LEADER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868680" y="4709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2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Ryan Kirk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59152" y="5084064"/>
            <a:ext cx="26700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53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Head of Data Science at John Deere, focused on turning data, analytics, and AI into practical decisions across the agricultural ecosystem.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841248" y="4754880"/>
            <a:ext cx="1389888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DA"/>
            </a:solidFill>
            <a:prstDash val="solid"/>
          </a:ln>
        </p:spPr>
      </p:sp>
      <p:pic>
        <p:nvPicPr>
          <p:cNvPr id="16" name="Image 1" descr="/Users/rakirk/dev/iic-keynote/public/author/blin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864608"/>
            <a:ext cx="1170432" cy="11704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04288" y="575157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304288" y="5888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connect on Blinq</a:t>
            </a:r>
            <a:endParaRPr lang="en-US" sz="1220" dirty="0"/>
          </a:p>
        </p:txBody>
      </p:sp>
      <p:sp>
        <p:nvSpPr>
          <p:cNvPr id="19" name="Shape 15"/>
          <p:cNvSpPr/>
          <p:nvPr/>
        </p:nvSpPr>
        <p:spPr>
          <a:xfrm>
            <a:off x="5870448" y="2084832"/>
            <a:ext cx="5349240" cy="118872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D4E0F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08192" y="228600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agriculture leadership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108192" y="26517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25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Helped shape how data science, analytics, and AI support decisions across the agricultural ecosystem at John Deere.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870448" y="3566160"/>
            <a:ext cx="5349240" cy="1188720"/>
          </a:xfrm>
          <a:prstGeom prst="roundRect">
            <a:avLst/>
          </a:prstGeom>
          <a:solidFill>
            <a:srgbClr val="F2EAF9"/>
          </a:solidFill>
          <a:ln w="12700">
            <a:solidFill>
              <a:srgbClr val="E4D7F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08192" y="376732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systems expertise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108192" y="41330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25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a PhD in Human-Computer Interaction focused on decision support systems in veterinary and clinical settings.</a:t>
            </a:r>
            <a:endParaRPr lang="en-US" sz="1140" dirty="0"/>
          </a:p>
        </p:txBody>
      </p:sp>
      <p:sp>
        <p:nvSpPr>
          <p:cNvPr id="25" name="Shape 21"/>
          <p:cNvSpPr/>
          <p:nvPr/>
        </p:nvSpPr>
        <p:spPr>
          <a:xfrm>
            <a:off x="5870448" y="5111496"/>
            <a:ext cx="5349240" cy="1188720"/>
          </a:xfrm>
          <a:prstGeom prst="roundRect">
            <a:avLst/>
          </a:prstGeom>
          <a:solidFill>
            <a:srgbClr val="E6F3EA"/>
          </a:solidFill>
          <a:ln w="12700">
            <a:solidFill>
              <a:srgbClr val="D0E7D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08192" y="531266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AI for agronomy and operations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108192" y="56784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25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at the intersection of agronomy, data products, and emerging technology to build connected, intelligent, resilient decision support systems.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Iowa Agricultural Co-ops</dc:title>
  <dc:subject>A data-and-AI narrative built around signals, thresholds, and co-op operating examples</dc:subject>
  <dc:creator>PptxGenJS</dc:creator>
  <cp:lastModifiedBy>PptxGenJS</cp:lastModifiedBy>
  <cp:revision>1</cp:revision>
  <dcterms:created xsi:type="dcterms:W3CDTF">2026-05-21T21:20:54Z</dcterms:created>
  <dcterms:modified xsi:type="dcterms:W3CDTF">2026-05-21T21:20:54Z</dcterms:modified>
</cp:coreProperties>
</file>