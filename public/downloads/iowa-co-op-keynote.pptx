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01 of 20: From Signals to Decisions
How data and AI are transforming Iowa agricultural co-ops through earlier signal detection and better decision support.
Key stats:
- Audience: Leaders + interns
- Lens: Data + AI
- Method: Story-driven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02 of 20: What changes when a co-op can interpret signals earlier?
This talk stays narrowly focused on the intersection of data, AI, and co-op decision-making.
Talking points:
- How data changed the operating environment
- How signals become a usable story
- Where AI helps in credible, high-trust workflows
- Which examples map cleanly to co-op reality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03 of 20: Co-ops are becoming information interpreters
Agronomy, markets, logistics, and member-service data now arrive continuously. The constraint moved from access to interpretation.
Signals to emphasize:
- Agronomic signals: Imagery, tissue results, scouting notes, and equipment data surface field variation much earlier than before.
- Market signals: Input prices, crop prices, and rates reshape member decisions together, not one at a time.
- Logistics signals: Receipts, moisture, truck turns, and storage availability reveal pressure before the phone starts ringing.
- Member-service signals: Booking patterns, exception volume, and communication delays show where the member experience is changing.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04 of 20: A usable data story follows the same sequence every time
This restores the original signals-to-decisions spine: compare signals, add thresholds, add context, then ask what action deserves support.
Step sequence:
- 1. Observe: Start with signals that appear to be moving together across agronomy, markets, or operations.
- 2. Measure: Add a threshold so the team can separate ordinary noise from something operationally meaningful.
- 3. Explain: Overlay events, notes, or local context to understand what may be driving the pattern.
- 4. Assist: Use AI to summarize, prioritize, and support a human decision instead of pretending the model is the decision-maker.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05 of 20: Margin setup tightened before outreach decisions changed
Two charts establish the setup: corn weakens while fertilizer and financing stay firm.
Talking points:
- Corn proxy fell 15% while fertilizer proxy rose to 114.
- Corn weakens into August while fertilizer peaks in June and financing stays above 5%.
- The synthetic pressure index crosses watch in April and peaks in June.
Data mix: Proxy market data + synthetic operating examples
Visible panels: Corn, fertilizer, and financing proxies | Synthetic margin pressure example
Panel detail:
- Corn, fertilizer, and financing proxies: Proxy market and financing series, rebased to January = 100, show the real economic setup before any synthetic response is introduced.
- Synthetic margin pressure example: Synthetic pressure example shows how a co-op could combine the real proxy inputs into a watch-and-escalate workflow.
Thresholds:
- watch: &gt;= 105. Combined input, crop price, and financing pressure has moved outside a neutral operating range.
- escalate: &gt;= 110. Margin conditions are tight enough to justify earlier member outreach and recommendation review.
Context kept visible:
- Apr 1: Pressure moves into watch range. Margin pressure reaches the first watch threshold as spring input timing intensifies.
- Jun 1: Peak pressure month. This is the illustrative high-water mark for the combined pressure story.
- Sep 1: Harvest recovery begins. Conditions improve modestly as harvest approaches and member visibility increases.
Expanded framing:
- Original combined-slide title: Corn proxy fell 15% while fertilizer proxy rose to 114.
- Original fuller framing: Start with the real proxy signals, then use synthetic margin-pressure and booking examples to show how a co-op might translate that setup into action.
- Real proxy data leads the story: corn weakens from January to August while fertilizer pressure builds into June and financing stays above 5% through September.
- The synthetic margin-pressure example crosses the watch threshold in April and peaks in June, showing how those real inputs could be operationalized.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06 of 20: Booking softened after pressure moved above the watch line
The relationship becomes operational when pressure and booking behavior are visible together.
Talking points:
- Corn proxy fell 15% while fertilizer proxy rose to 114.
- Pressure stays above watch from April through September.
- Booking softens after the break, turning this into an outreach-timing story.
Data mix: Proxy market data + synthetic operating examples
Visible panels: Synthetic margin pressure example | Synthetic member booking example
Panel detail:
- Synthetic margin pressure example: Synthetic pressure example shows how a co-op could combine the real proxy inputs into a watch-and-escalate workflow.
- Synthetic member booking example: Synthetic booking response shows how member behavior could soften after the pressure story moves into watch territory.
Thresholds:
- watch: &gt;= 105. Combined input, crop price, and financing pressure has moved outside a neutral operating range.
- escalate: &gt;= 110. Margin conditions are tight enough to justify earlier member outreach and recommendation review.
- watch: &lt;= 96. Member booking behavior has weakened enough to justify segment-level outreach triage.
Context kept visible:
- Apr 1: Pressure moves into watch range. Margin pressure reaches the first watch threshold as spring input timing intensifies.
- Jun 1: Peak pressure month. This is the illustrative high-water mark for the combined pressure story.
- Sep 1: Harvest recovery begins. Conditions improve modestly as harvest approaches and member visibility increases.
Expanded framing:
- Original combined-slide title: Corn proxy fell 15% while fertilizer proxy rose to 114.
- Original fuller framing: Start with the real proxy signals, then use synthetic margin-pressure and booking examples to show how a co-op might translate that setup into action.
- The synthetic margin-pressure example crosses the watch threshold in April and peaks in June, showing how those real inputs could be operationalized.
- The synthetic booking example softens after the pressure example moves above the watch line, which turns the slide into an outreach-timing story.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07 of 20: AI can turn a margin story into an early-warning workflow
This is the narrow, credible use case: summarize inputs, flag thresholds, prioritize outreach, and keep a human in the loop.
Step sequence:
- 1. Summarize: Pull market updates and local notes into one concise daily view instead of six disconnected sources.
- 2. Flag thresholds: Detect when the margin story moved outside a normal operating range rather than just drifting a little.
- 3. Prioritize outreach: Identify which member segments deserve a conversation first based on the combined signals.
- 4. Support action: Prepare a suggested next conversation for staff to review, adjust, and send with local judgment.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08 of 20: Heat and moisture shifts explain the first canopy stress window
Weather context comes first: hotter weeks and dry intervals set up the late-June decline.
Talking points:
- NDVI fell to -0.07 before a rain-assisted early-July recovery.
- Late-June heat moves well above normal while precipitation runs below trend ahead of the first NDVI drop.
- A strong July 1 rain week explains why the first stress cycle partly recovers.
Data mix: Real weather context + synthetic field examples
Visible panels: Heat signal | Moisture and recovery signal
Panel detail:
- Heat signal: Real Mesonet temperature anomalies show the hot weeks that plausibly push the canopy into stress during late vegetative growth.
- Moisture and recovery signal: Real Mesonet precipitation anomalies show the dry windows and the rain week that supports the first NDVI recovery.
Thresholds:
- context: &gt;= +5.0 F. Temperatures are materially above climatology and may explain vegetative stress.
- context: &lt;= -0.60 in. Weekly precipitation has fallen meaningfully below climatology.
Context kept visible:
- May 4: Variable-rate application pass. Illustrative as-applied context is introduced before the field-stress windows emerge.
- Jun 21: Zone B flagged. First scout-attention event aligned to the early stress window.
- Jul 18: Zone C flagged highest. Second scout-attention event aligned to the stronger late-July stress window.
Expanded framing:
- Original combined-slide title: NDVI fell to -0.07 before a rain-assisted early-July recovery.
- Original fuller framing: The chart now emphasizes the weather-to-canopy narrative: hot weeks and dry intervals precede the first NDVI decline, early-July rainfall supports recovery, and a second July window likely aligns with pollination and early grain fill.
- The late-June window plausibly aligns with late vegetative canopy growth, when hot and dry conditions can start to show up as canopy stress.
- The first NDVI drop is followed by a July 1 week with +2.32 inches of precipitation and a partial canopy recovery, so the heat-and-recovery narrative is supportable for the first stress cycle.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09 of 20: NDVI and scout triage show where agronomists should look first
The field response matters once the weather signal becomes a prioritization problem.
Talking points:
- NDVI fell to -0.07 before a rain-assisted early-July recovery.
- NDVI bottoms near -0.07 before a partial recovery.
- The July 15 to July 29 wave is the stronger case for scout triage and human review.
Data mix: Real weather context + synthetic field examples
Visible panels: Synthetic NDVI example | Synthetic scout triage example
Panel detail:
- Synthetic NDVI example: Synthetic NDVI anomaly line shows a late-June drop, a rain-assisted early-July recovery, and a second stress wave near pollination and early grain fill.
- Synthetic scout triage example: Synthetic scout-priority score rises through both stress windows, while the zone-level annotations preserve the specific handoff moments.
Thresholds:
- watch: &lt;= -0.04. Field variation is large enough to justify agronomist review.
- escalate: &lt;= -0.06. Field variation is severe enough that the field should move to the top of the review queue.
Context kept visible:
- May 4: Variable-rate application pass. Illustrative as-applied context is introduced before the field-stress windows emerge.
- Jun 21: Zone B flagged. First scout-attention event aligned to the early stress window.
- Jul 18: Zone C flagged highest. Second scout-attention event aligned to the stronger late-July stress window.
Expanded framing:
- Original combined-slide title: NDVI fell to -0.07 before a rain-assisted early-July recovery.
- Original fuller framing: The chart now emphasizes the weather-to-canopy narrative: hot weeks and dry intervals precede the first NDVI decline, early-July rainfall supports recovery, and a second July window likely aligns with pollination and early grain fill.
- The first NDVI drop is followed by a July 1 week with +2.32 inches of precipitation and a partial canopy recovery, so the heat-and-recovery narrative is supportable for the first stress cycle.
- The stronger July 15 to July 29 window is more plausibly a pollination to early grain-fill problem, which makes scout triage more important than a generic anomaly alert.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10 of 20: AI can help triage attention across fields and agronomists
The AI role is to accelerate pattern finding and note synthesis so agronomists can spend more time on field judgment.
Step sequence:
- 1. Consolidate: Combine imagery summaries, scouting notes, and lab results into one review surface.
- 2. Detect: Flag field patterns that look unusual relative to local history or nearby fields.
- 3. Rank: Help agronomists prioritize where to spend limited time first when many acres show stress at once.
- 4. Recommend: Draft a human-checked recommendation that can enter the co-op workflow faster.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11 of 20: Statewide harvest pace explains the first inbound pressure build
Start with the public anchor, then translate it into a local receipts inference.
Talking points:
- Corn harvest rose from 11% to 97% statewide.
- Corn harvest rises from 11% to 97% statewide between September 30 and November 18.
- The synthetic receipts curve shows how that harvest ramp could stress one facility.
Data mix: Real USDA crop progress + synthetic logistics inference
Visible panels: Weekly USDA crop progress | Synthetic receipts inference
Panel detail:
- Weekly USDA crop progress: Real USDA report values lead the story and establish the statewide harvest curve before any synthetic operational inference is shown.
- Synthetic receipts inference: Synthetic intake curve is inferred from the USDA harvest ramp and shows how inbound pressure could build at a location level.
Context kept visible:
- Sep 3: Corn mature reaches 10%. The public harvest anchor now starts with an extracted statewide progress percentage rather than just a report date.
- Sep 16: Corn mature reaches 41%. Maturity accelerates before the operating watch window peaks.
- Sep 30: Corn harvested reaches 11%. The first extracted harvest percentage lines up with the rising queue and capacity pressure period.
- Oct 15: Corn harvested reaches 45%. Harvest scale stays visible even as the first operating spike begins to ease.
Expanded framing:
- Original combined-slide title: Corn harvest rose from 11% to 97% statewide.
- Original fuller framing: Lead with the real USDA crop-progress curve, then use synthetic receipts, turn-time, and capacity examples as location-level inferences from that harvest ramp.
- The real USDA series leads the slide: statewide corn harvest moves from 11% on September 30 to 97% by November 18.
- The receipts, turn-time, and capacity panels are synthetic inferences, included to show how a local facility could experience that statewide harvest ramp.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12 of 20: Turn time warns earlier than capacity does
Member delay becomes visible before the site reaches its hardest storage constraint.
Talking points:
- Corn harvest rose from 11% to 97% statewide.
- The service signal crosses watch before capacity reaches hard-pressure territory.
- That makes truck delay the earlier intervention signal for staffing, routing, and communication.
Data mix: Real USDA crop progress + synthetic logistics inference
Visible panels: Synthetic truck turn-time inference | Synthetic capacity inference
Panel detail:
- Synthetic truck turn-time inference: Synthetic turn-time curve shows the earliest member-facing symptom inferred from the harvest ramp and throughput pressure.
- Synthetic capacity inference: Synthetic storage-utilization curve shows how the USDA harvest ramp could translate into a visible watch period before a hard constraint.
Thresholds:
- watch: &gt;= 82%. Capacity is tight enough that logistics becomes a visible member-service risk.
- escalate: &gt;= 90%. Capacity is approaching a hard operational constraint.
- watch: &gt;= 75 min. Truck wait time is long enough to change member experience materially.
- escalate: &gt;= 100 min. Truck wait time has moved into a service-recovery range that deserves active intervention.
Context kept visible:
- Sep 3: Corn mature reaches 10%. The public harvest anchor now starts with an extracted statewide progress percentage rather than just a report date.
- Sep 16: Corn mature reaches 41%. Maturity accelerates before the operating watch window peaks.
- Sep 30: Corn harvested reaches 11%. The first extracted harvest percentage lines up with the rising queue and capacity pressure period.
- Oct 15: Corn harvested reaches 45%. Harvest scale stays visible even as the first operating spike begins to ease.
Expanded framing:
- Original combined-slide title: Corn harvest rose from 11% to 97% statewide.
- Original fuller framing: Lead with the real USDA crop-progress curve, then use synthetic receipts, turn-time, and capacity examples as location-level inferences from that harvest ramp.
- The receipts, turn-time, and capacity panels are synthetic inferences, included to show how a local facility could experience that statewide harvest ramp.
- The synthetic service signal crosses its watch line before the synthetic capacity line reaches hard-pressure territory, which is why operations should watch member delay first.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13 of 20: AI can support dispatch and exception handling before members feel the delay
This is where AI helps operations teams surface thresholds, spot exceptions, and communicate earlier.
Step sequence:
- 1. Monitor: Watch key logistics thresholds continuously without asking staff to babysit every dashboard.
- 2. Spot exceptions: Detect patterns like rising turn time or unexpected moisture clusters sooner than manual review usually does.
- 3. Suggest options: Prepare rerouting, staffing, or communication suggestions for dispatch and location managers.
- 4. Keep human control: The operation still owns the decision because the consequence lands with members and employees, not the model.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14 of 20: The most credible uses of AI in co-ops are narrow and high-trust
The examples above point to a consistent pattern: AI helps most when the job is bounded and the human owner is obvious.
Signals to emphasize:
- Summarization: Turn scattered notes, reports, and updates into a reviewable operating picture.
- Anomaly detection: Notice unusual patterns across fields, markets, or logistics before they become expensive.
- Prioritization: Help teams decide what deserves attention first when the volume of signals spikes.
- Recommendation support: Prepare draft actions for humans to review instead of pushing autonomous decisions into the operation.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15 of 20: AI only works well after the signals are structured
This is the operational discipline point: weak notes and fragmented systems produce weak AI outputs.
What weak data habits look like:
- Different teams define the same metric differently
- Field notes live in disconnected places
- Operational thresholds are implied but undocumented
- No one can explain why a recommendation was made
What stronger operating discipline looks like:
- Shared definitions for the signals that matter
- Structured notes and visible ownership
- Clear thresholds for watch periods and exceptions
- Documented reasoning before action is taken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16 of 20: AI will amplify whatever operating habits already exist
If data is fragmented, goals are fuzzy, or ownership is unclear, automation spreads confusion faster.
Weak habits AI scales:
- Unclear definitions of success
- Fragmented notes and disconnected systems
- Advice without documented reasoning
- Outputs no one reviews carefully
Better habits to scale first:
- Shared terms and operating metrics
- Structured notes and visible ownership
- Decision logs for major recommendations
- Human review before high-stakes action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17 of 20: A 12-month data-and-AI roadmap can stay simple
Roadmap:
- 0-90 days: Standardize the signals. Choose a small set of agronomic, market, and operational indicators that leadership reviews consistently.
- Quarter 2: Instrument one workflow. Pick one decision process such as pricing outreach, agronomy follow-up, or dispatch exceptions and structure its signals.
- Quarter 3: Add a digital layer. Expose the workflow to staff with a simple interface that keeps context visible instead of hiding it in spreadsheets.
- Quarter 4: Evaluate AI selectively. Apply AI where summarization, pattern detection, or prioritization can save time without removing human accountability.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18 of 20: The near-term advantage for Iowa co-ops is earlier interpretation
Talking points:
- Tell better operational stories with data, not more disconnected charts.
- Use AI where it assists judgment in narrow, high-trust workflows.
- Anchor every concept in a co-op example leaders and interns can recognize.
- Win by acting earlier, not by collecting more dashboards.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19 of 20: Better questions lead to better timing
The co-ops that interpret signals earlier will be the ones that use data and AI to serve members more effectively.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Iowa Agricultural Co-ops
Slide 20 of 20: About Ryan Kirk
Digital agriculture, applied AI, and decision support leadership grounded in real operating outcomes.
Author: Ryan Kirk
Role: Digital agriculture and applied AI leader
Summary: Former Head of Data Science at John Deere, focused on turning data, analytics, and AI into practical decisions across the agricultural ecosystem.
Highlights:
- Digital agriculture leadership: Helped shape how data science, analytics, and AI support decisions across the agricultural ecosystem at John Deere.
- Decision support systems expertise: Holds a PhD in Human-Computer Interaction focused on decision support systems in veterinary and clinical settings.
- Applied AI for agronomy and operations: Works at the intersection of agronomy, data products, and emerging technology to build connected, intelligent, resilient decision support systems.
Contact prompt: Scan to connect on Blinq. Use the QR code for post-session follow-up on applied AI, digital agronomy, and resilient decision support systems.
Expanded framing:
- Source summary from author/Bio.md.
- Emphasize the through-line from digital agriculture leadership to practical decision support, not generic technology hype.
- Invite follow-up conversations on applied AI, agronomy workflows, and data products using the Blinq QR code.
Audience: Agricultural professionals and interns
Event: One-day Iowa co-op trends session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D4A846">
              <a:alpha val="20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D4A846">
              <a:alpha val="8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IOWA INSTITUTE KEYNOTE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EE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23444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Signals to Decisions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DEE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data and AI are transforming Iowa agricultural co-ops through earlier signal detection and better decision support.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7240" y="4434840"/>
            <a:ext cx="2423160" cy="1051560"/>
          </a:xfrm>
          <a:prstGeom prst="round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1832" y="459943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EE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41832" y="483717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 + interns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474720" y="4434840"/>
            <a:ext cx="2423160" cy="1051560"/>
          </a:xfrm>
          <a:prstGeom prst="round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39312" y="459943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EE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39312" y="483717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+ AI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72200" y="4434840"/>
            <a:ext cx="2423160" cy="1051560"/>
          </a:xfrm>
          <a:prstGeom prst="round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459943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EE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36792" y="483717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Story-driven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244736">
              <a:alpha val="20000"/>
            </a:srgbClr>
          </a:solidFill>
          <a:ln w="12700">
            <a:solidFill>
              <a:srgbClr val="24473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244736">
              <a:alpha val="8000"/>
            </a:srgbClr>
          </a:solidFill>
          <a:ln w="12700">
            <a:solidFill>
              <a:srgbClr val="24473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47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QUESTION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36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0058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D2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changes when a co-op can interpret signals earlier?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1737360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36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talk stays narrowly focused on the intersection of data, AI, and co-op decision-making.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2514600"/>
            <a:ext cx="6766560" cy="3246120"/>
          </a:xfrm>
          <a:prstGeom prst="roundRect">
            <a:avLst/>
          </a:prstGeom>
          <a:solidFill>
            <a:srgbClr val="1D2B22">
              <a:alpha val="10000"/>
            </a:srgbClr>
          </a:solidFill>
          <a:ln w="12700">
            <a:solidFill>
              <a:srgbClr val="1D2B22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2907792"/>
            <a:ext cx="109728" cy="109728"/>
          </a:xfrm>
          <a:prstGeom prst="ellipse">
            <a:avLst/>
          </a:prstGeom>
          <a:solidFill>
            <a:srgbClr val="244736"/>
          </a:solidFill>
          <a:ln w="12700">
            <a:solidFill>
              <a:srgbClr val="24473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2728" y="2788920"/>
            <a:ext cx="5971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D2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data changed the operating environment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51560" y="3474720"/>
            <a:ext cx="109728" cy="109728"/>
          </a:xfrm>
          <a:prstGeom prst="ellipse">
            <a:avLst/>
          </a:prstGeom>
          <a:solidFill>
            <a:srgbClr val="244736"/>
          </a:solidFill>
          <a:ln w="12700">
            <a:solidFill>
              <a:srgbClr val="24473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2728" y="3355848"/>
            <a:ext cx="5971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D2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signals become a usable story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51560" y="4041648"/>
            <a:ext cx="109728" cy="109728"/>
          </a:xfrm>
          <a:prstGeom prst="ellipse">
            <a:avLst/>
          </a:prstGeom>
          <a:solidFill>
            <a:srgbClr val="244736"/>
          </a:solidFill>
          <a:ln w="12700">
            <a:solidFill>
              <a:srgbClr val="24473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52728" y="3922776"/>
            <a:ext cx="5971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D2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AI helps in credible, high-trust workflows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51560" y="4608576"/>
            <a:ext cx="109728" cy="109728"/>
          </a:xfrm>
          <a:prstGeom prst="ellipse">
            <a:avLst/>
          </a:prstGeom>
          <a:solidFill>
            <a:srgbClr val="244736"/>
          </a:solidFill>
          <a:ln w="12700">
            <a:solidFill>
              <a:srgbClr val="24473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52728" y="4489704"/>
            <a:ext cx="5971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D2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examples map cleanly to co-op reality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D4A846">
              <a:alpha val="20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D4A846">
              <a:alpha val="8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SHIFT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8686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Co-ops are becoming information interpreters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164592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Agronomy, markets, logistics, and member-service data now arrive continuously. The constraint moved from access to interpretation.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2423160"/>
            <a:ext cx="5285232" cy="155448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6696" y="2679192"/>
            <a:ext cx="329184" cy="32918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35608" y="262432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Agronomic signals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35608" y="2935224"/>
            <a:ext cx="4315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Imagery, tissue results, scouting notes, and equipment data surface field variation much earlier than before.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55080" y="2423160"/>
            <a:ext cx="5285232" cy="155448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74536" y="2679192"/>
            <a:ext cx="329184" cy="32918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13448" y="262432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signals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13448" y="2935224"/>
            <a:ext cx="4315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prices, crop prices, and rates reshape member decisions together, not one at a time.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4206240"/>
            <a:ext cx="5285232" cy="155448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96696" y="4462272"/>
            <a:ext cx="329184" cy="32918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35608" y="440740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signals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35608" y="4718304"/>
            <a:ext cx="4315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Receipts, moisture, truck turns, and storage availability reveal pressure before the phone starts ringing.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55080" y="4206240"/>
            <a:ext cx="5285232" cy="155448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4536" y="4462272"/>
            <a:ext cx="329184" cy="32918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13448" y="440740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Member-service signals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13448" y="4718304"/>
            <a:ext cx="4315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patterns, exception volume, and communication delays show where the member experience is changing.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556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F2C766">
              <a:alpha val="20000"/>
            </a:srgbClr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F2C766">
              <a:alpha val="8000"/>
            </a:srgbClr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8686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usable data story follows the same sequence every time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162763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restores the original signals-to-decisions spine: compare signals, add thresholds, add context, then ask what action deserves support.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9808" y="2788920"/>
            <a:ext cx="2606040" cy="210312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971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26440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639312"/>
            <a:ext cx="22768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signals that appear to be moving together across agronomy, markets, or operations.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19856" y="3630168"/>
            <a:ext cx="237744" cy="347472"/>
          </a:xfrm>
          <a:prstGeom prst="chevron">
            <a:avLst/>
          </a:prstGeom>
          <a:solidFill>
            <a:srgbClr val="F2C766">
              <a:alpha val="82000"/>
            </a:srgbClr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02736" y="2788920"/>
            <a:ext cx="2606040" cy="210312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67328" y="2971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67328" y="326440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767328" y="3639312"/>
            <a:ext cx="22768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threshold so the team can separate ordinary noise from something operationally meaningful.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72784" y="3630168"/>
            <a:ext cx="237744" cy="347472"/>
          </a:xfrm>
          <a:prstGeom prst="chevron">
            <a:avLst/>
          </a:prstGeom>
          <a:solidFill>
            <a:srgbClr val="F2C766">
              <a:alpha val="82000"/>
            </a:srgbClr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55664" y="2788920"/>
            <a:ext cx="2606040" cy="210312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0256" y="2971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20256" y="326440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620256" y="3639312"/>
            <a:ext cx="22768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Overlay events, notes, or local context to understand what may be driving the pattern.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25712" y="3630168"/>
            <a:ext cx="237744" cy="347472"/>
          </a:xfrm>
          <a:prstGeom prst="chevron">
            <a:avLst/>
          </a:prstGeom>
          <a:solidFill>
            <a:srgbClr val="F2C766">
              <a:alpha val="82000"/>
            </a:srgbClr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08592" y="2788920"/>
            <a:ext cx="2606040" cy="210312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73184" y="2971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473184" y="326440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473184" y="3639312"/>
            <a:ext cx="22768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AI to summarize, prioritize, and support a human decision instead of pretending the model is the decision-maker.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D4A846">
              <a:alpha val="20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D4A846">
              <a:alpha val="8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STORY 1A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621792"/>
            <a:ext cx="40690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 setup tightened before outreach decisions changed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060704" y="1883664"/>
            <a:ext cx="35844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charts establish the setup: corn weakens while fertilizer and financing stay firm.</a:t>
            </a:r>
            <a:endParaRPr lang="en-US" sz="1880" dirty="0"/>
          </a:p>
        </p:txBody>
      </p:sp>
      <p:sp>
        <p:nvSpPr>
          <p:cNvPr id="9" name="Shape 7"/>
          <p:cNvSpPr/>
          <p:nvPr/>
        </p:nvSpPr>
        <p:spPr>
          <a:xfrm>
            <a:off x="768096" y="3538728"/>
            <a:ext cx="4133088" cy="3099816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3685032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matters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60704" y="3922776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readout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978408" y="4334256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6152" y="4215384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 proxy fell 15% while fertilizer proxy rose to 114.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78408" y="5070348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16152" y="4951476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 weakens into August while fertilizer peaks in June and financing stays above 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8408" y="5806440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16152" y="5687568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synthetic pressure index crosses watch in April and peaks in June.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71016" y="630936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Proxy market data + synthetic operating examples</a:t>
            </a:r>
            <a:endParaRPr lang="en-US" sz="1020" dirty="0"/>
          </a:p>
        </p:txBody>
      </p:sp>
      <p:pic>
        <p:nvPicPr>
          <p:cNvPr id="19" name="Image 0" descr="/Users/rakirk/dev/iic-keynote/artifacts/powerpoint/charts/margin_pressure__margin-context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37176" y="219456"/>
            <a:ext cx="6062472" cy="3063240"/>
          </a:xfrm>
          <a:prstGeom prst="rect">
            <a:avLst/>
          </a:prstGeom>
        </p:spPr>
      </p:pic>
      <p:pic>
        <p:nvPicPr>
          <p:cNvPr id="20" name="Image 1" descr="/Users/rakirk/dev/iic-keynote/artifacts/powerpoint/charts/margin_pressure__margin-pressure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50992" y="3538728"/>
            <a:ext cx="6062472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D4A846">
              <a:alpha val="20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D4A846">
              <a:alpha val="8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STORY 1B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621792"/>
            <a:ext cx="40690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Booking softened after pressure moved above the watch line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060704" y="1883664"/>
            <a:ext cx="35844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relationship becomes operational when pressure and booking behavior are visible together.</a:t>
            </a:r>
            <a:endParaRPr lang="en-US" sz="1880" dirty="0"/>
          </a:p>
        </p:txBody>
      </p:sp>
      <p:sp>
        <p:nvSpPr>
          <p:cNvPr id="9" name="Shape 7"/>
          <p:cNvSpPr/>
          <p:nvPr/>
        </p:nvSpPr>
        <p:spPr>
          <a:xfrm>
            <a:off x="768096" y="3538728"/>
            <a:ext cx="4133088" cy="3099816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3685032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matters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60704" y="3922776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readout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978408" y="4334256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6152" y="4215384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 proxy fell 15% while fertilizer proxy rose to 114.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78408" y="5070348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16152" y="4951476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stays above watch from April through September.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8408" y="5806440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16152" y="5687568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softens after the break, turning this into an outreach-timing story.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71016" y="630936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Proxy market data + synthetic operating examples</a:t>
            </a:r>
            <a:endParaRPr lang="en-US" sz="1020" dirty="0"/>
          </a:p>
        </p:txBody>
      </p:sp>
      <p:pic>
        <p:nvPicPr>
          <p:cNvPr id="19" name="Image 0" descr="/Users/rakirk/dev/iic-keynote/artifacts/powerpoint/charts/margin_pressure__margin-pressur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37176" y="219456"/>
            <a:ext cx="6062472" cy="3063240"/>
          </a:xfrm>
          <a:prstGeom prst="rect">
            <a:avLst/>
          </a:prstGeom>
        </p:spPr>
      </p:pic>
      <p:pic>
        <p:nvPicPr>
          <p:cNvPr id="20" name="Image 1" descr="/Users/rakirk/dev/iic-keynote/artifacts/powerpoint/charts/margin_pressure__booking-behavior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50992" y="3538728"/>
            <a:ext cx="6062472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D4A846">
              <a:alpha val="20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D4A846">
              <a:alpha val="8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LAYER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8686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can turn a margin story into an early-warning workflow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162763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narrow, credible use case: summarize inputs, flag thresholds, prioritize outreach, and keep a human in the loop.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9808" y="2788920"/>
            <a:ext cx="2606040" cy="210312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971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26440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639312"/>
            <a:ext cx="22768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market updates and local notes into one concise daily view instead of six disconnected sources.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19856" y="3630168"/>
            <a:ext cx="237744" cy="347472"/>
          </a:xfrm>
          <a:prstGeom prst="chevron">
            <a:avLst/>
          </a:prstGeom>
          <a:solidFill>
            <a:srgbClr val="D4A846">
              <a:alpha val="82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02736" y="2788920"/>
            <a:ext cx="2606040" cy="210312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67328" y="2971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67328" y="326440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thresholds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767328" y="3639312"/>
            <a:ext cx="22768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when the margin story moved outside a normal operating range rather than just drifting a little.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72784" y="3630168"/>
            <a:ext cx="237744" cy="347472"/>
          </a:xfrm>
          <a:prstGeom prst="chevron">
            <a:avLst/>
          </a:prstGeom>
          <a:solidFill>
            <a:srgbClr val="D4A846">
              <a:alpha val="82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55664" y="2788920"/>
            <a:ext cx="2606040" cy="210312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0256" y="2971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20256" y="326440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outreach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620256" y="3639312"/>
            <a:ext cx="22768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which member segments deserve a conversation first based on the combined signals.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25712" y="3630168"/>
            <a:ext cx="237744" cy="347472"/>
          </a:xfrm>
          <a:prstGeom prst="chevron">
            <a:avLst/>
          </a:prstGeom>
          <a:solidFill>
            <a:srgbClr val="D4A846">
              <a:alpha val="82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08592" y="2788920"/>
            <a:ext cx="2606040" cy="210312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73184" y="2971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473184" y="326440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action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473184" y="3639312"/>
            <a:ext cx="22768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a suggested next conversation for staff to review, adjust, and send with local judgment.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D4A846">
              <a:alpha val="20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D4A846">
              <a:alpha val="8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STORY 2A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621792"/>
            <a:ext cx="40690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Heat and moisture shifts explain the first canopy stress window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060704" y="1883664"/>
            <a:ext cx="35844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context comes first: hotter weeks and dry intervals set up the late-June decline.</a:t>
            </a:r>
            <a:endParaRPr lang="en-US" sz="1880" dirty="0"/>
          </a:p>
        </p:txBody>
      </p:sp>
      <p:sp>
        <p:nvSpPr>
          <p:cNvPr id="9" name="Shape 7"/>
          <p:cNvSpPr/>
          <p:nvPr/>
        </p:nvSpPr>
        <p:spPr>
          <a:xfrm>
            <a:off x="768096" y="3538728"/>
            <a:ext cx="4133088" cy="3099816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3685032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matters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60704" y="3922776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readout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978408" y="4334256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6152" y="4215384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NDVI fell to -0.07 before a rain-assisted early-July recovery.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78408" y="5070348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16152" y="4951476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Late-June heat moves well above normal while precipitation runs below trend ahead of the first NDVI drop.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8408" y="5806440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16152" y="5687568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July 1 rain week explains why the first stress cycle partly recovers.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71016" y="630936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weather context + synthetic field examples</a:t>
            </a:r>
            <a:endParaRPr lang="en-US" sz="1020" dirty="0"/>
          </a:p>
        </p:txBody>
      </p:sp>
      <p:pic>
        <p:nvPicPr>
          <p:cNvPr id="19" name="Image 0" descr="/Users/rakirk/dev/iic-keynote/artifacts/powerpoint/charts/precision_agronomy__temperature-deviati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37176" y="219456"/>
            <a:ext cx="6062472" cy="3063240"/>
          </a:xfrm>
          <a:prstGeom prst="rect">
            <a:avLst/>
          </a:prstGeom>
        </p:spPr>
      </p:pic>
      <p:pic>
        <p:nvPicPr>
          <p:cNvPr id="20" name="Image 1" descr="/Users/rakirk/dev/iic-keynote/artifacts/powerpoint/charts/precision_agronomy__precipitation-deviation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50992" y="3538728"/>
            <a:ext cx="6062472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D4A846">
              <a:alpha val="20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D4A846">
              <a:alpha val="8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STORY 2B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621792"/>
            <a:ext cx="40690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NDVI and scout triage show where agronomists should look first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060704" y="1883664"/>
            <a:ext cx="35844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field response matters once the weather signal becomes a prioritization problem.</a:t>
            </a:r>
            <a:endParaRPr lang="en-US" sz="1880" dirty="0"/>
          </a:p>
        </p:txBody>
      </p:sp>
      <p:sp>
        <p:nvSpPr>
          <p:cNvPr id="9" name="Shape 7"/>
          <p:cNvSpPr/>
          <p:nvPr/>
        </p:nvSpPr>
        <p:spPr>
          <a:xfrm>
            <a:off x="768096" y="3538728"/>
            <a:ext cx="4133088" cy="3099816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3685032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matters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60704" y="3922776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readout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978408" y="4334256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6152" y="4215384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NDVI fell to -0.07 before a rain-assisted early-July recovery.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78408" y="5070348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16152" y="4951476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NDVI bottoms near -0.07 before a partial recovery.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8408" y="5806440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16152" y="5687568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July 15 to July 29 wave is the stronger case for scout triage and human review.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71016" y="630936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weather context + synthetic field examples</a:t>
            </a:r>
            <a:endParaRPr lang="en-US" sz="1020" dirty="0"/>
          </a:p>
        </p:txBody>
      </p:sp>
      <p:pic>
        <p:nvPicPr>
          <p:cNvPr id="19" name="Image 0" descr="/Users/rakirk/dev/iic-keynote/artifacts/powerpoint/charts/precision_agronomy__ndvi-anomaly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37176" y="219456"/>
            <a:ext cx="6062472" cy="3063240"/>
          </a:xfrm>
          <a:prstGeom prst="rect">
            <a:avLst/>
          </a:prstGeom>
        </p:spPr>
      </p:pic>
      <p:pic>
        <p:nvPicPr>
          <p:cNvPr id="20" name="Image 1" descr="/Users/rakirk/dev/iic-keynote/artifacts/powerpoint/charts/precision_agronomy__scout-attention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50992" y="3538728"/>
            <a:ext cx="6062472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556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F2C766">
              <a:alpha val="20000"/>
            </a:srgbClr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F2C766">
              <a:alpha val="8000"/>
            </a:srgbClr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LAYER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8686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can help triage attention across fields and agronomists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162763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role is to accelerate pattern finding and note synthesis so agronomists can spend more time on field judgment.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9808" y="2788920"/>
            <a:ext cx="2606040" cy="210312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971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26440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639312"/>
            <a:ext cx="22768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imagery summaries, scouting notes, and lab results into one review surface.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19856" y="3630168"/>
            <a:ext cx="237744" cy="347472"/>
          </a:xfrm>
          <a:prstGeom prst="chevron">
            <a:avLst/>
          </a:prstGeom>
          <a:solidFill>
            <a:srgbClr val="F2C766">
              <a:alpha val="82000"/>
            </a:srgbClr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02736" y="2788920"/>
            <a:ext cx="2606040" cy="210312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67328" y="2971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67328" y="326440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767328" y="3639312"/>
            <a:ext cx="22768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field patterns that look unusual relative to local history or nearby fields.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72784" y="3630168"/>
            <a:ext cx="237744" cy="347472"/>
          </a:xfrm>
          <a:prstGeom prst="chevron">
            <a:avLst/>
          </a:prstGeom>
          <a:solidFill>
            <a:srgbClr val="F2C766">
              <a:alpha val="82000"/>
            </a:srgbClr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55664" y="2788920"/>
            <a:ext cx="2606040" cy="210312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0256" y="2971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20256" y="326440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620256" y="3639312"/>
            <a:ext cx="22768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agronomists prioritize where to spend limited time first when many acres show stress at once.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25712" y="3630168"/>
            <a:ext cx="237744" cy="347472"/>
          </a:xfrm>
          <a:prstGeom prst="chevron">
            <a:avLst/>
          </a:prstGeom>
          <a:solidFill>
            <a:srgbClr val="F2C766">
              <a:alpha val="82000"/>
            </a:srgbClr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08592" y="2788920"/>
            <a:ext cx="2606040" cy="210312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73184" y="2971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473184" y="326440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473184" y="3639312"/>
            <a:ext cx="22768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a human-checked recommendation that can enter the co-op workflow faster.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D4A846">
              <a:alpha val="20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D4A846">
              <a:alpha val="8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STORY 3A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621792"/>
            <a:ext cx="40690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Statewide harvest pace explains the first inbound pressure build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060704" y="1883664"/>
            <a:ext cx="35844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the public anchor, then translate it into a local receipts inference.</a:t>
            </a:r>
            <a:endParaRPr lang="en-US" sz="1880" dirty="0"/>
          </a:p>
        </p:txBody>
      </p:sp>
      <p:sp>
        <p:nvSpPr>
          <p:cNvPr id="9" name="Shape 7"/>
          <p:cNvSpPr/>
          <p:nvPr/>
        </p:nvSpPr>
        <p:spPr>
          <a:xfrm>
            <a:off x="768096" y="3538728"/>
            <a:ext cx="4133088" cy="3099816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3685032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matters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60704" y="3922776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readout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978408" y="4334256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6152" y="4215384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 harvest rose from 11% to 97% statewide.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78408" y="5070348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16152" y="4951476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 harvest rises from 11% to 97% statewide between September 30 and November 18.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8408" y="5806440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16152" y="5687568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synthetic receipts curve shows how that harvest ramp could stress one facility.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71016" y="630936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USDA crop progress + synthetic logistics inference</a:t>
            </a:r>
            <a:endParaRPr lang="en-US" sz="1020" dirty="0"/>
          </a:p>
        </p:txBody>
      </p:sp>
      <p:pic>
        <p:nvPicPr>
          <p:cNvPr id="19" name="Image 0" descr="/Users/rakirk/dev/iic-keynote/artifacts/powerpoint/charts/grain_logistics__harvest-progress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37176" y="219456"/>
            <a:ext cx="6062472" cy="3063240"/>
          </a:xfrm>
          <a:prstGeom prst="rect">
            <a:avLst/>
          </a:prstGeom>
        </p:spPr>
      </p:pic>
      <p:pic>
        <p:nvPicPr>
          <p:cNvPr id="20" name="Image 1" descr="/Users/rakirk/dev/iic-keynote/artifacts/powerpoint/charts/grain_logistics__daily-receipts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50992" y="3538728"/>
            <a:ext cx="6062472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D4A846">
              <a:alpha val="20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D4A846">
              <a:alpha val="8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STORY 3B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621792"/>
            <a:ext cx="40690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 time warns earlier than capacity does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060704" y="1883664"/>
            <a:ext cx="35844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8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 delay becomes visible before the site reaches its hardest storage constraint.</a:t>
            </a:r>
            <a:endParaRPr lang="en-US" sz="1880" dirty="0"/>
          </a:p>
        </p:txBody>
      </p:sp>
      <p:sp>
        <p:nvSpPr>
          <p:cNvPr id="9" name="Shape 7"/>
          <p:cNvSpPr/>
          <p:nvPr/>
        </p:nvSpPr>
        <p:spPr>
          <a:xfrm>
            <a:off x="768096" y="3538728"/>
            <a:ext cx="4133088" cy="3099816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3685032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matters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60704" y="3922776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readout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978408" y="4334256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6152" y="4215384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 harvest rose from 11% to 97% statewide.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78408" y="5070348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16152" y="4951476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service signal crosses watch before capacity reaches hard-pressure territory.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8408" y="5806440"/>
            <a:ext cx="146304" cy="146304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16152" y="5687568"/>
            <a:ext cx="351129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makes truck delay the earlier intervention signal for staffing, routing, and communication.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71016" y="630936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USDA crop progress + synthetic logistics inference</a:t>
            </a:r>
            <a:endParaRPr lang="en-US" sz="1020" dirty="0"/>
          </a:p>
        </p:txBody>
      </p:sp>
      <p:pic>
        <p:nvPicPr>
          <p:cNvPr id="19" name="Image 0" descr="/Users/rakirk/dev/iic-keynote/artifacts/powerpoint/charts/grain_logistics__turn-tim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37176" y="219456"/>
            <a:ext cx="6062472" cy="3063240"/>
          </a:xfrm>
          <a:prstGeom prst="rect">
            <a:avLst/>
          </a:prstGeom>
        </p:spPr>
      </p:pic>
      <p:pic>
        <p:nvPicPr>
          <p:cNvPr id="20" name="Image 1" descr="/Users/rakirk/dev/iic-keynote/artifacts/powerpoint/charts/grain_logistics__capacity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50992" y="3538728"/>
            <a:ext cx="6062472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244736">
              <a:alpha val="20000"/>
            </a:srgbClr>
          </a:solidFill>
          <a:ln w="12700">
            <a:solidFill>
              <a:srgbClr val="24473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244736">
              <a:alpha val="8000"/>
            </a:srgbClr>
          </a:solidFill>
          <a:ln w="12700">
            <a:solidFill>
              <a:srgbClr val="24473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47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LAYER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36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8686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D2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can support dispatch and exception handling before members feel the delay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162763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36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where AI helps operations teams surface thresholds, spot exceptions, and communicate earlier.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9808" y="2788920"/>
            <a:ext cx="2606040" cy="2103120"/>
          </a:xfrm>
          <a:prstGeom prst="roundRect">
            <a:avLst/>
          </a:prstGeom>
          <a:solidFill>
            <a:srgbClr val="1D2B22">
              <a:alpha val="10000"/>
            </a:srgbClr>
          </a:solidFill>
          <a:ln w="12700">
            <a:solidFill>
              <a:srgbClr val="1D2B22">
                <a:alpha val="2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971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47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26440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639312"/>
            <a:ext cx="22768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key logistics thresholds continuously without asking staff to babysit every dashboard.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19856" y="3630168"/>
            <a:ext cx="237744" cy="347472"/>
          </a:xfrm>
          <a:prstGeom prst="chevron">
            <a:avLst/>
          </a:prstGeom>
          <a:solidFill>
            <a:srgbClr val="244736">
              <a:alpha val="82000"/>
            </a:srgbClr>
          </a:solidFill>
          <a:ln w="12700">
            <a:solidFill>
              <a:srgbClr val="244736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02736" y="2788920"/>
            <a:ext cx="2606040" cy="2103120"/>
          </a:xfrm>
          <a:prstGeom prst="roundRect">
            <a:avLst/>
          </a:prstGeom>
          <a:solidFill>
            <a:srgbClr val="1D2B22">
              <a:alpha val="10000"/>
            </a:srgbClr>
          </a:solidFill>
          <a:ln w="12700">
            <a:solidFill>
              <a:srgbClr val="1D2B22">
                <a:alpha val="2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67328" y="2971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47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67328" y="326440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exceptions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767328" y="3639312"/>
            <a:ext cx="22768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patterns like rising turn time or unexpected moisture clusters sooner than manual review usually does.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72784" y="3630168"/>
            <a:ext cx="237744" cy="347472"/>
          </a:xfrm>
          <a:prstGeom prst="chevron">
            <a:avLst/>
          </a:prstGeom>
          <a:solidFill>
            <a:srgbClr val="244736">
              <a:alpha val="82000"/>
            </a:srgbClr>
          </a:solidFill>
          <a:ln w="12700">
            <a:solidFill>
              <a:srgbClr val="24473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55664" y="2788920"/>
            <a:ext cx="2606040" cy="2103120"/>
          </a:xfrm>
          <a:prstGeom prst="roundRect">
            <a:avLst/>
          </a:prstGeom>
          <a:solidFill>
            <a:srgbClr val="1D2B22">
              <a:alpha val="10000"/>
            </a:srgbClr>
          </a:solidFill>
          <a:ln w="12700">
            <a:solidFill>
              <a:srgbClr val="1D2B22">
                <a:alpha val="22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0256" y="2971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47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20256" y="326440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 options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620256" y="3639312"/>
            <a:ext cx="22768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rerouting, staffing, or communication suggestions for dispatch and location managers.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25712" y="3630168"/>
            <a:ext cx="237744" cy="347472"/>
          </a:xfrm>
          <a:prstGeom prst="chevron">
            <a:avLst/>
          </a:prstGeom>
          <a:solidFill>
            <a:srgbClr val="244736">
              <a:alpha val="82000"/>
            </a:srgbClr>
          </a:solidFill>
          <a:ln w="12700">
            <a:solidFill>
              <a:srgbClr val="24473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08592" y="2788920"/>
            <a:ext cx="2606040" cy="2103120"/>
          </a:xfrm>
          <a:prstGeom prst="roundRect">
            <a:avLst/>
          </a:prstGeom>
          <a:solidFill>
            <a:srgbClr val="1D2B22">
              <a:alpha val="10000"/>
            </a:srgbClr>
          </a:solidFill>
          <a:ln w="12700">
            <a:solidFill>
              <a:srgbClr val="1D2B22">
                <a:alpha val="22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73184" y="2971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47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473184" y="326440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human control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473184" y="3639312"/>
            <a:ext cx="22768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36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operation still owns the decision because the consequence lands with members and employees, not the model.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556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F2C766">
              <a:alpha val="20000"/>
            </a:srgbClr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F2C766">
              <a:alpha val="8000"/>
            </a:srgbClr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AI HELPS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8686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most credible uses of AI in co-ops are narrow and high-trust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164592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examples above point to a consistent pattern: AI helps most when the job is bounded and the human owner is obvious.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2423160"/>
            <a:ext cx="5285232" cy="155448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6696" y="2679192"/>
            <a:ext cx="329184" cy="329184"/>
          </a:xfrm>
          <a:prstGeom prst="ellipse">
            <a:avLst/>
          </a:prstGeom>
          <a:solidFill>
            <a:srgbClr val="F2C766"/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35608" y="262432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35608" y="2935224"/>
            <a:ext cx="4315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scattered notes, reports, and updates into a reviewable operating picture.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55080" y="2423160"/>
            <a:ext cx="5285232" cy="155448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74536" y="2679192"/>
            <a:ext cx="329184" cy="329184"/>
          </a:xfrm>
          <a:prstGeom prst="ellipse">
            <a:avLst/>
          </a:prstGeom>
          <a:solidFill>
            <a:srgbClr val="F2C766"/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13448" y="262432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Anomaly detection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13448" y="2935224"/>
            <a:ext cx="4315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 unusual patterns across fields, markets, or logistics before they become expensive.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4206240"/>
            <a:ext cx="5285232" cy="155448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96696" y="4462272"/>
            <a:ext cx="329184" cy="329184"/>
          </a:xfrm>
          <a:prstGeom prst="ellipse">
            <a:avLst/>
          </a:prstGeom>
          <a:solidFill>
            <a:srgbClr val="F2C766"/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35608" y="440740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Prioritization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35608" y="4718304"/>
            <a:ext cx="4315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teams decide what deserves attention first when the volume of signals spikes.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55080" y="4206240"/>
            <a:ext cx="5285232" cy="155448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4536" y="4462272"/>
            <a:ext cx="329184" cy="329184"/>
          </a:xfrm>
          <a:prstGeom prst="ellipse">
            <a:avLst/>
          </a:prstGeom>
          <a:solidFill>
            <a:srgbClr val="F2C766"/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13448" y="440740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support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13448" y="4718304"/>
            <a:ext cx="4315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E7E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draft actions for humans to review instead of pushing autonomous decisions into the operation.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D4A846">
              <a:alpha val="20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D4A846">
              <a:alpha val="8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READINESS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8686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only works well after the signals are structured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162763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operational discipline point: weak notes and fragmented systems produce weak AI outputs.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2514600"/>
            <a:ext cx="5349240" cy="324612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2514600"/>
            <a:ext cx="5074920" cy="3246120"/>
          </a:xfrm>
          <a:prstGeom prst="roundRect">
            <a:avLst/>
          </a:prstGeom>
          <a:solidFill>
            <a:srgbClr val="D4A846">
              <a:alpha val="18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74320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weak data habits look like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24128" y="3246120"/>
            <a:ext cx="109728" cy="109728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25296" y="3127248"/>
            <a:ext cx="44622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teams define the same metric differently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24128" y="3749040"/>
            <a:ext cx="109728" cy="109728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25296" y="3630168"/>
            <a:ext cx="44622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notes live in disconnected places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4128" y="4251960"/>
            <a:ext cx="109728" cy="109728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25296" y="4133088"/>
            <a:ext cx="44622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thresholds are implied but undocumented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24128" y="4754880"/>
            <a:ext cx="109728" cy="109728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25296" y="4636008"/>
            <a:ext cx="44622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one can explain why a recommendation was made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83680" y="2743200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stronger operating discipline looks like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601968" y="3246120"/>
            <a:ext cx="109728" cy="109728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3127248"/>
            <a:ext cx="41422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definitions for the signals that matter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601968" y="3749040"/>
            <a:ext cx="109728" cy="109728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03136" y="3630168"/>
            <a:ext cx="41422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notes and visible ownership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601968" y="4251960"/>
            <a:ext cx="109728" cy="109728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03136" y="4133088"/>
            <a:ext cx="41422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thresholds for watch periods and exceptions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601968" y="4754880"/>
            <a:ext cx="109728" cy="109728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03136" y="4636008"/>
            <a:ext cx="41422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Documented reasoning before action is taken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2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F2C766">
              <a:alpha val="20000"/>
            </a:srgbClr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F2C766">
              <a:alpha val="8000"/>
            </a:srgbClr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C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0D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8686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will amplify whatever operating habits already exist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162763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0D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data is fragmented, goals are fuzzy, or ownership is unclear, automation spreads confusion faster.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2514600"/>
            <a:ext cx="5349240" cy="324612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2514600"/>
            <a:ext cx="5074920" cy="3246120"/>
          </a:xfrm>
          <a:prstGeom prst="roundRect">
            <a:avLst/>
          </a:prstGeom>
          <a:solidFill>
            <a:srgbClr val="F2C766">
              <a:alpha val="18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74320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habits AI scales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24128" y="3246120"/>
            <a:ext cx="109728" cy="109728"/>
          </a:xfrm>
          <a:prstGeom prst="ellipse">
            <a:avLst/>
          </a:prstGeom>
          <a:solidFill>
            <a:srgbClr val="F2C766"/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25296" y="3127248"/>
            <a:ext cx="44622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Unclear definitions of success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24128" y="3749040"/>
            <a:ext cx="109728" cy="109728"/>
          </a:xfrm>
          <a:prstGeom prst="ellipse">
            <a:avLst/>
          </a:prstGeom>
          <a:solidFill>
            <a:srgbClr val="F2C766"/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25296" y="3630168"/>
            <a:ext cx="44622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notes and disconnected systems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4128" y="4251960"/>
            <a:ext cx="109728" cy="109728"/>
          </a:xfrm>
          <a:prstGeom prst="ellipse">
            <a:avLst/>
          </a:prstGeom>
          <a:solidFill>
            <a:srgbClr val="F2C766"/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25296" y="4133088"/>
            <a:ext cx="44622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Advice without documented reasoning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24128" y="4754880"/>
            <a:ext cx="109728" cy="109728"/>
          </a:xfrm>
          <a:prstGeom prst="ellipse">
            <a:avLst/>
          </a:prstGeom>
          <a:solidFill>
            <a:srgbClr val="F2C766"/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25296" y="4636008"/>
            <a:ext cx="44622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no one reviews carefully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83680" y="2743200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habits to scale first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601968" y="3246120"/>
            <a:ext cx="109728" cy="109728"/>
          </a:xfrm>
          <a:prstGeom prst="ellipse">
            <a:avLst/>
          </a:prstGeom>
          <a:solidFill>
            <a:srgbClr val="F2C766"/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3127248"/>
            <a:ext cx="41422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terms and operating metrics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601968" y="3749040"/>
            <a:ext cx="109728" cy="109728"/>
          </a:xfrm>
          <a:prstGeom prst="ellipse">
            <a:avLst/>
          </a:prstGeom>
          <a:solidFill>
            <a:srgbClr val="F2C766"/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03136" y="3630168"/>
            <a:ext cx="41422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notes and visible ownership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601968" y="4251960"/>
            <a:ext cx="109728" cy="109728"/>
          </a:xfrm>
          <a:prstGeom prst="ellipse">
            <a:avLst/>
          </a:prstGeom>
          <a:solidFill>
            <a:srgbClr val="F2C766"/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03136" y="4133088"/>
            <a:ext cx="41422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logs for major recommendations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601968" y="4754880"/>
            <a:ext cx="109728" cy="109728"/>
          </a:xfrm>
          <a:prstGeom prst="ellipse">
            <a:avLst/>
          </a:prstGeom>
          <a:solidFill>
            <a:srgbClr val="F2C766"/>
          </a:solidFill>
          <a:ln w="12700">
            <a:solidFill>
              <a:srgbClr val="F2C766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03136" y="4636008"/>
            <a:ext cx="41422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review before high-stakes action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244736">
              <a:alpha val="20000"/>
            </a:srgbClr>
          </a:solidFill>
          <a:ln w="12700">
            <a:solidFill>
              <a:srgbClr val="24473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244736">
              <a:alpha val="8000"/>
            </a:srgbClr>
          </a:solidFill>
          <a:ln w="12700">
            <a:solidFill>
              <a:srgbClr val="24473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47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PLAYBOOK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36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868680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D2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12-month data-and-AI roadmap can stay simple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68680" y="1828800"/>
            <a:ext cx="10927080" cy="841248"/>
          </a:xfrm>
          <a:prstGeom prst="roundRect">
            <a:avLst/>
          </a:prstGeom>
          <a:solidFill>
            <a:srgbClr val="1D2B22">
              <a:alpha val="10000"/>
            </a:srgbClr>
          </a:solidFill>
          <a:ln w="12700">
            <a:solidFill>
              <a:srgbClr val="1D2B22">
                <a:alpha val="2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03911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47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0-90 DAYS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331720" y="199339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 the signals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1993392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36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small set of agronomic, market, and operational indicators that leadership reviews consistently.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68680" y="2907792"/>
            <a:ext cx="10927080" cy="841248"/>
          </a:xfrm>
          <a:prstGeom prst="roundRect">
            <a:avLst/>
          </a:prstGeom>
          <a:solidFill>
            <a:srgbClr val="1D2B22">
              <a:alpha val="10000"/>
            </a:srgbClr>
          </a:solidFill>
          <a:ln w="12700">
            <a:solidFill>
              <a:srgbClr val="1D2B22">
                <a:alpha val="22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11810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47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331720" y="307238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 one workflow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0" y="3072384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36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decision process such as pricing outreach, agronomy follow-up, or dispatch exceptions and structure its signals.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8680" y="3986784"/>
            <a:ext cx="10927080" cy="841248"/>
          </a:xfrm>
          <a:prstGeom prst="roundRect">
            <a:avLst/>
          </a:prstGeom>
          <a:solidFill>
            <a:srgbClr val="1D2B22">
              <a:alpha val="10000"/>
            </a:srgbClr>
          </a:solidFill>
          <a:ln w="12700">
            <a:solidFill>
              <a:srgbClr val="1D2B22">
                <a:alpha val="22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19709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47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31720" y="4151376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digital layer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0" y="4151376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36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Expose the workflow to staff with a simple interface that keeps context visible instead of hiding it in spreadsheets.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68680" y="5065776"/>
            <a:ext cx="10927080" cy="841248"/>
          </a:xfrm>
          <a:prstGeom prst="roundRect">
            <a:avLst/>
          </a:prstGeom>
          <a:solidFill>
            <a:srgbClr val="1D2B22">
              <a:alpha val="10000"/>
            </a:srgbClr>
          </a:solidFill>
          <a:ln w="12700">
            <a:solidFill>
              <a:srgbClr val="1D2B22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527608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47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 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331720" y="523036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AI selectively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0" y="523036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36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AI where summarization, pattern detection, or prioritization can save time without removing human accountability.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D4A846">
              <a:alpha val="20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D4A846">
              <a:alpha val="8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REMEMBER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DE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0058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near-term advantage for Iowa co-ops is earlier interpretation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77240" y="2514600"/>
            <a:ext cx="6766560" cy="324612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907792"/>
            <a:ext cx="109728" cy="109728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52728" y="2788920"/>
            <a:ext cx="5971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better operational stories with data, not more disconnected charts.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051560" y="3474720"/>
            <a:ext cx="109728" cy="109728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52728" y="3355848"/>
            <a:ext cx="5971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AI where it assists judgment in narrow, high-trust workflows.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51560" y="4041648"/>
            <a:ext cx="109728" cy="109728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52728" y="3922776"/>
            <a:ext cx="5971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every concept in a co-op example leaders and interns can recognize.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51560" y="4608576"/>
            <a:ext cx="109728" cy="109728"/>
          </a:xfrm>
          <a:prstGeom prst="ellipse">
            <a:avLst/>
          </a:prstGeom>
          <a:solidFill>
            <a:srgbClr val="D4A846"/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52728" y="4489704"/>
            <a:ext cx="59710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D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by acting earlier, not by collecting more dashboards.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3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D4A846">
              <a:alpha val="20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D4A846">
              <a:alpha val="8000"/>
            </a:srgbClr>
          </a:solidFill>
          <a:ln w="12700">
            <a:solidFill>
              <a:srgbClr val="D4A84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EE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D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Better questions lead to better timing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96112" y="31546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DEE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co-ops that interpret signals earlier will be the ones that use data and AI to serve members more effectively.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594360"/>
            <a:ext cx="2834640" cy="2194560"/>
          </a:xfrm>
          <a:prstGeom prst="ellipse">
            <a:avLst/>
          </a:prstGeom>
          <a:solidFill>
            <a:srgbClr val="244736">
              <a:alpha val="20000"/>
            </a:srgbClr>
          </a:solidFill>
          <a:ln w="12700">
            <a:solidFill>
              <a:srgbClr val="24473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502920"/>
            <a:ext cx="2560320" cy="19202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6583680" y="6172200"/>
            <a:ext cx="6035040" cy="1097280"/>
          </a:xfrm>
          <a:prstGeom prst="rect">
            <a:avLst/>
          </a:prstGeom>
          <a:solidFill>
            <a:srgbClr val="244736">
              <a:alpha val="8000"/>
            </a:srgbClr>
          </a:solidFill>
          <a:ln w="12700">
            <a:solidFill>
              <a:srgbClr val="244736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194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47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THE AUTHOR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0" y="2194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36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89611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D2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Ryan Kirk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768096" y="1554480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dirty="0">
                <a:solidFill>
                  <a:srgbClr val="536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agriculture, applied AI, and decision support leadership grounded in real operating outcomes.</a:t>
            </a:r>
            <a:endParaRPr lang="en-US" sz="1440" dirty="0"/>
          </a:p>
        </p:txBody>
      </p:sp>
      <p:sp>
        <p:nvSpPr>
          <p:cNvPr id="9" name="Shape 7"/>
          <p:cNvSpPr/>
          <p:nvPr/>
        </p:nvSpPr>
        <p:spPr>
          <a:xfrm>
            <a:off x="649224" y="1828800"/>
            <a:ext cx="4828032" cy="4590288"/>
          </a:xfrm>
          <a:prstGeom prst="roundRect">
            <a:avLst/>
          </a:prstGeom>
          <a:solidFill>
            <a:srgbClr val="1D2B22">
              <a:alpha val="10000"/>
            </a:srgbClr>
          </a:solidFill>
          <a:ln w="12700">
            <a:solidFill>
              <a:srgbClr val="1D2B22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56232" y="2029968"/>
            <a:ext cx="2414016" cy="2414016"/>
          </a:xfrm>
          <a:prstGeom prst="ellipse">
            <a:avLst/>
          </a:prstGeom>
          <a:solidFill>
            <a:srgbClr val="FFFFFF">
              <a:alpha val="98000"/>
            </a:srgbClr>
          </a:solidFill>
          <a:ln w="12700">
            <a:solidFill>
              <a:srgbClr val="DCE6DF"/>
            </a:solidFill>
            <a:prstDash val="solid"/>
          </a:ln>
          <a:effectLst>
            <a:outerShdw sx="100000" sy="100000" kx="0" ky="0" algn="bl" rotWithShape="0" blurRad="25400" dist="25400" dir="2700000">
              <a:srgbClr val="20352A">
                <a:alpha val="14000"/>
              </a:srgbClr>
            </a:outerShdw>
          </a:effectLst>
        </p:spPr>
      </p:sp>
      <p:pic>
        <p:nvPicPr>
          <p:cNvPr id="11" name="Image 0" descr="/Users/rakirk/dev/iic-keynote/public/author/kirk-ryan-005-portra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2139696"/>
            <a:ext cx="2194560" cy="2194560"/>
          </a:xfrm>
          <a:prstGeom prst="ellipse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78408" y="448056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2F5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AGRICULTURE AND APPLIED AI LEADER</a:t>
            </a:r>
            <a:endParaRPr lang="en-US" sz="960" dirty="0"/>
          </a:p>
        </p:txBody>
      </p:sp>
      <p:sp>
        <p:nvSpPr>
          <p:cNvPr id="13" name="Text 10"/>
          <p:cNvSpPr/>
          <p:nvPr/>
        </p:nvSpPr>
        <p:spPr>
          <a:xfrm>
            <a:off x="868680" y="47091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2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Ryan Kirk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359152" y="5084064"/>
            <a:ext cx="26700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536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Former Head of Data Science at John Deere, focused on turning data, analytics, and AI into practical decisions across the agricultural ecosystem.</a:t>
            </a:r>
            <a:endParaRPr lang="en-US" sz="1040" dirty="0"/>
          </a:p>
        </p:txBody>
      </p:sp>
      <p:sp>
        <p:nvSpPr>
          <p:cNvPr id="15" name="Shape 12"/>
          <p:cNvSpPr/>
          <p:nvPr/>
        </p:nvSpPr>
        <p:spPr>
          <a:xfrm>
            <a:off x="841248" y="4754880"/>
            <a:ext cx="1389888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DA"/>
            </a:solidFill>
            <a:prstDash val="solid"/>
          </a:ln>
        </p:spPr>
      </p:sp>
      <p:pic>
        <p:nvPicPr>
          <p:cNvPr id="16" name="Image 1" descr="/Users/rakirk/dev/iic-keynote/public/author/blin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4864608"/>
            <a:ext cx="1170432" cy="11704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304288" y="575157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5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2304288" y="588873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D2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connect on Blinq</a:t>
            </a:r>
            <a:endParaRPr lang="en-US" sz="1220" dirty="0"/>
          </a:p>
        </p:txBody>
      </p:sp>
      <p:sp>
        <p:nvSpPr>
          <p:cNvPr id="19" name="Shape 15"/>
          <p:cNvSpPr/>
          <p:nvPr/>
        </p:nvSpPr>
        <p:spPr>
          <a:xfrm>
            <a:off x="5870448" y="2084832"/>
            <a:ext cx="5349240" cy="1188720"/>
          </a:xfrm>
          <a:prstGeom prst="roundRect">
            <a:avLst/>
          </a:prstGeom>
          <a:solidFill>
            <a:srgbClr val="E7F0FF"/>
          </a:solidFill>
          <a:ln w="12700">
            <a:solidFill>
              <a:srgbClr val="D4E0F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108192" y="2286000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D2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agriculture leadership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108192" y="265176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425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Helped shape how data science, analytics, and AI support decisions across the agricultural ecosystem at John Deere.</a:t>
            </a:r>
            <a:endParaRPr lang="en-US" sz="1140" dirty="0"/>
          </a:p>
        </p:txBody>
      </p:sp>
      <p:sp>
        <p:nvSpPr>
          <p:cNvPr id="22" name="Shape 18"/>
          <p:cNvSpPr/>
          <p:nvPr/>
        </p:nvSpPr>
        <p:spPr>
          <a:xfrm>
            <a:off x="5870448" y="3566160"/>
            <a:ext cx="5349240" cy="1188720"/>
          </a:xfrm>
          <a:prstGeom prst="roundRect">
            <a:avLst/>
          </a:prstGeom>
          <a:solidFill>
            <a:srgbClr val="F2EAF9"/>
          </a:solidFill>
          <a:ln w="12700">
            <a:solidFill>
              <a:srgbClr val="E4D7F2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108192" y="3767328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D2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support systems expertise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6108192" y="413308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425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a PhD in Human-Computer Interaction focused on decision support systems in veterinary and clinical settings.</a:t>
            </a:r>
            <a:endParaRPr lang="en-US" sz="1140" dirty="0"/>
          </a:p>
        </p:txBody>
      </p:sp>
      <p:sp>
        <p:nvSpPr>
          <p:cNvPr id="25" name="Shape 21"/>
          <p:cNvSpPr/>
          <p:nvPr/>
        </p:nvSpPr>
        <p:spPr>
          <a:xfrm>
            <a:off x="5870448" y="5111496"/>
            <a:ext cx="5349240" cy="1188720"/>
          </a:xfrm>
          <a:prstGeom prst="roundRect">
            <a:avLst/>
          </a:prstGeom>
          <a:solidFill>
            <a:srgbClr val="E6F3EA"/>
          </a:solidFill>
          <a:ln w="12700">
            <a:solidFill>
              <a:srgbClr val="D0E7D7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108192" y="5312664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D2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 AI for agronomy and operations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6108192" y="5678424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425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at the intersection of agronomy, data products, and emerging technology to build connected, intelligent, resilient decision support systems.</a:t>
            </a:r>
            <a:endParaRPr lang="en-US" sz="11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Iowa Agricultural Co-ops</dc:title>
  <dc:subject>A data-and-AI narrative built around signals, thresholds, and co-op operating examples</dc:subject>
  <dc:creator>PptxGenJS</dc:creator>
  <cp:lastModifiedBy>PptxGenJS</cp:lastModifiedBy>
  <cp:revision>1</cp:revision>
  <dcterms:created xsi:type="dcterms:W3CDTF">2026-05-21T21:31:04Z</dcterms:created>
  <dcterms:modified xsi:type="dcterms:W3CDTF">2026-05-21T21:31:04Z</dcterms:modified>
</cp:coreProperties>
</file>